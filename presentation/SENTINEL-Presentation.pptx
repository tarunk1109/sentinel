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3dae61325949c8" /><Relationship Type="http://schemas.openxmlformats.org/officeDocument/2006/relationships/extended-properties" Target="/docProps/app.xml" Id="R1618edf043d345a4" /><Relationship Type="http://schemas.openxmlformats.org/officeDocument/2006/relationships/officeDocument" Target="/ppt/presentation.xml" Id="Rbddc0e717e834399" /></Relationships>
</file>

<file path=ppt/presentation.xml><?xml version="1.0" encoding="utf-8"?>
<p:presentation xmlns:p="http://schemas.openxmlformats.org/presentationml/2006/main">
  <p:sldMasterIdLst>
    <p:sldMasterId xmlns:r="http://schemas.openxmlformats.org/officeDocument/2006/relationships" id="2147483648" r:id="Rce53b494f96d4301"/>
  </p:sldMasterIdLst>
  <p:notesMasterIdLst>
    <p:notesMasterId xmlns:r="http://schemas.openxmlformats.org/officeDocument/2006/relationships" r:id="R9cb10c828d814af0"/>
  </p:notesMasterIdLst>
  <p:sldIdLst>
    <p:sldId xmlns:r="http://schemas.openxmlformats.org/officeDocument/2006/relationships" id="256" r:id="Rbe3490125d4c459c"/>
    <p:sldId xmlns:r="http://schemas.openxmlformats.org/officeDocument/2006/relationships" id="257" r:id="R9b40f172d07b4c38"/>
    <p:sldId xmlns:r="http://schemas.openxmlformats.org/officeDocument/2006/relationships" id="258" r:id="Raba3e5c99cef4204"/>
    <p:sldId xmlns:r="http://schemas.openxmlformats.org/officeDocument/2006/relationships" id="259" r:id="R5702eb478e0f4d48"/>
    <p:sldId xmlns:r="http://schemas.openxmlformats.org/officeDocument/2006/relationships" id="260" r:id="R57e10513e13346bb"/>
    <p:sldId xmlns:r="http://schemas.openxmlformats.org/officeDocument/2006/relationships" id="261" r:id="R0c34d18ff4d840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991430214849de" /><Relationship Type="http://schemas.openxmlformats.org/officeDocument/2006/relationships/slideMaster" Target="/ppt/slideMasters/slideMaster1.xml" Id="Rce53b494f96d4301" /><Relationship Type="http://schemas.openxmlformats.org/officeDocument/2006/relationships/notesMaster" Target="/ppt/notesMasters/notesMaster1.xml" Id="R9cb10c828d814af0" /><Relationship Type="http://schemas.openxmlformats.org/officeDocument/2006/relationships/presProps" Target="/ppt/presProps.xml" Id="R4ba3e6d289ca4596" /><Relationship Type="http://schemas.openxmlformats.org/officeDocument/2006/relationships/tableStyles" Target="/ppt/tableStyles.xml" Id="Rc7891dcd2466472b" /><Relationship Type="http://schemas.openxmlformats.org/officeDocument/2006/relationships/slide" Target="/ppt/slides/slide1.xml" Id="Rbe3490125d4c459c" /><Relationship Type="http://schemas.openxmlformats.org/officeDocument/2006/relationships/slide" Target="/ppt/slides/slide2.xml" Id="R9b40f172d07b4c38" /><Relationship Type="http://schemas.openxmlformats.org/officeDocument/2006/relationships/slide" Target="/ppt/slides/slide3.xml" Id="Raba3e5c99cef4204" /><Relationship Type="http://schemas.openxmlformats.org/officeDocument/2006/relationships/slide" Target="/ppt/slides/slide4.xml" Id="R5702eb478e0f4d48" /><Relationship Type="http://schemas.openxmlformats.org/officeDocument/2006/relationships/slide" Target="/ppt/slides/slide5.xml" Id="R57e10513e13346bb" /><Relationship Type="http://schemas.openxmlformats.org/officeDocument/2006/relationships/slide" Target="/ppt/slides/slide6.xml" Id="R0c34d18ff4d840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d554beba2e4c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5336a234c346e9" /><Relationship Type="http://schemas.openxmlformats.org/officeDocument/2006/relationships/notesMaster" Target="/ppt/notesMasters/notesMaster1.xml" Id="Rfffb883e2d154d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d23a56dc8f4edc" /><Relationship Type="http://schemas.openxmlformats.org/officeDocument/2006/relationships/notesMaster" Target="/ppt/notesMasters/notesMaster1.xml" Id="R0fa8a7e5eea643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2a241abb95455e" /><Relationship Type="http://schemas.openxmlformats.org/officeDocument/2006/relationships/notesMaster" Target="/ppt/notesMasters/notesMaster1.xml" Id="R6f48764caef640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cd86a5fea449bd" /><Relationship Type="http://schemas.openxmlformats.org/officeDocument/2006/relationships/notesMaster" Target="/ppt/notesMasters/notesMaster1.xml" Id="Ra4343421e28e4f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07b7ea1c5142c8" /><Relationship Type="http://schemas.openxmlformats.org/officeDocument/2006/relationships/notesMaster" Target="/ppt/notesMasters/notesMaster1.xml" Id="R0863a72ff07946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2f9b496c6c41ac" /><Relationship Type="http://schemas.openxmlformats.org/officeDocument/2006/relationships/notesMaster" Target="/ppt/notesMasters/notesMaster1.xml" Id="R77f72a5253b94b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Imagine showing an AI a broken part, or simply telling it what you need, and letting it handle the shopping work. That is SENTINEL. It finds options and prepares checkout, while you keep the final say. The demonstration uses Agnic’s official sandbox. Decorative artwork is AI-generated and does not depict an actual product.</a:t>
            </a:r>
          </a:p>
          <a:p xmlns:a="http://schemas.openxmlformats.org/drawingml/2006/main">
            <a:r>
              <a:t/>
            </a:r>
          </a:p>
          <a:p xmlns:a="http://schemas.openxmlformats.org/drawingml/2006/main">
            <a:r>
              <a:t>Source: SENTINEL project README.md, supplied project requirements and repository state, 20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usually know the outcome we want, but not the exact product to buy. A replacement needs the right fit. A build needs several compatible parts. Even a simple request means searching, comparing and checking delivery. SENTINEL starts with the user’s need and does that work for them.</a:t>
            </a:r>
          </a:p>
          <a:p xmlns:a="http://schemas.openxmlformats.org/drawingml/2006/main">
            <a:r>
              <a:t/>
            </a:r>
          </a:p>
          <a:p xmlns:a="http://schemas.openxmlformats.org/drawingml/2006/main">
            <a:r>
              <a:t>Source: SENTINEL project README.md, supplied project requirements and repository state, 20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starting points. Request accepts a plain-language need with a budget. Inspect uses a photo to understand an item and its replacement needs. Build turns a reference image into a bill of materials, or simply a list of parts. All three feed into the same commerce process.</a:t>
            </a:r>
          </a:p>
          <a:p xmlns:a="http://schemas.openxmlformats.org/drawingml/2006/main">
            <a:r>
              <a:t/>
            </a:r>
          </a:p>
          <a:p xmlns:a="http://schemas.openxmlformats.org/drawingml/2006/main">
            <a:r>
              <a:t>Source: SENTINEL project README.md, supplied project requirements and repository state, 20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understands the request, finds products and compares the evidence. It prepares a live checkout quote. The user then explicitly approves it. After approval, the server checks the quote again, submits the sandbox order and follows the provider’s status. If only a price ceiling is available, the app labels it as a maximum rather than pretending it is an exact total.</a:t>
            </a:r>
          </a:p>
          <a:p xmlns:a="http://schemas.openxmlformats.org/drawingml/2006/main">
            <a:r>
              <a:t/>
            </a:r>
          </a:p>
          <a:p xmlns:a="http://schemas.openxmlformats.org/drawingml/2006/main">
            <a:r>
              <a:t>Source: SENTINEL project README.md, supplied project requirements and repository state, 20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handles reasoning and image understanding. Agnic connects the product and checkout steps. Next.js and TypeScript bring them together. Credentials stay on the server. Each checkout attempt needs explicit approval, and repeated submissions of the same attempt should be blocked. Real-money checkout remains disabled in this hackathon build. Avoid claiming production-wide durable idempotency beyond what has been verified.</a:t>
            </a:r>
          </a:p>
          <a:p xmlns:a="http://schemas.openxmlformats.org/drawingml/2006/main">
            <a:r>
              <a:t/>
            </a:r>
          </a:p>
          <a:p xmlns:a="http://schemas.openxmlformats.org/drawingml/2006/main">
            <a:r>
              <a:t>Source: SENTINEL project README.md, supplied project requirements and repository state, 20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We proved checkout through the official Agnic Shopify sandbox. The project records list three successful orders, each with a C$13 test charge and C$14.95 approved maximum. The order IDs are af_ord_mu9zosqku6pbjrwa, af_ord_mu9zmyrm8lyqm88u and af_ord_mu9stni0ls90uruo. These are test transactions, not real-money purchases. The earlier failed order remains in the records. Open the live app’s Orders view for the demo and show the provider-confirmed result. The broader idea is simple: users describe what they need, and SENTINEL handles the work up to their approval. Decorative background is AI-generated.</a:t>
            </a:r>
          </a:p>
          <a:p xmlns:a="http://schemas.openxmlformats.org/drawingml/2006/main">
            <a:r>
              <a:t/>
            </a:r>
          </a:p>
          <a:p xmlns:a="http://schemas.openxmlformats.org/drawingml/2006/main">
            <a:r>
              <a:t>Source: SENTINEL project README.md, supplied project requirements and repository state, 20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c91459fcd44f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7b79cea2a944ec" /><Relationship Type="http://schemas.openxmlformats.org/officeDocument/2006/relationships/slideLayout" Target="/ppt/slideLayouts/slideLayout1.xml" Id="R1603410f7f9e49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03410f7f9e49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bb52b5a70e4661" /><Relationship Type="http://schemas.openxmlformats.org/officeDocument/2006/relationships/image" Target="/ppt/media/image.png" Id="Rc809f25dc3c34dc0" /><Relationship Type="http://schemas.openxmlformats.org/officeDocument/2006/relationships/notesSlide" Target="/ppt/notesSlides/notesSlide1.xml" Id="Rf250d5f1195642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82006ccbea49d9" /><Relationship Type="http://schemas.openxmlformats.org/officeDocument/2006/relationships/notesSlide" Target="/ppt/notesSlides/notesSlide2.xml" Id="R34dfb50de3924d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04d13201914dcf" /><Relationship Type="http://schemas.openxmlformats.org/officeDocument/2006/relationships/notesSlide" Target="/ppt/notesSlides/notesSlide3.xml" Id="R4fb9b9c68e5d4b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f01dcbe08c4ea9" /><Relationship Type="http://schemas.openxmlformats.org/officeDocument/2006/relationships/notesSlide" Target="/ppt/notesSlides/notesSlide4.xml" Id="Rdb678b9002a347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85ff01b8624e1f" /><Relationship Type="http://schemas.openxmlformats.org/officeDocument/2006/relationships/notesSlide" Target="/ppt/notesSlides/notesSlide5.xml" Id="Red3d67605b6c44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f74e3ed30f43bc" /><Relationship Type="http://schemas.openxmlformats.org/officeDocument/2006/relationships/image" Target="/ppt/media/image2.png" Id="Raa0a93ab141c4bae" /><Relationship Type="http://schemas.openxmlformats.org/officeDocument/2006/relationships/notesSlide" Target="/ppt/notesSlides/notesSlide6.xml" Id="R5fcb77f030884f70" /></Relationships>
</file>

<file path=ppt/slides/slide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78D3D3-CE3E-4669-B9DF-8562CF318806}"/>
              </a:ext>
            </a:extLst>
          </p:cNvPr>
          <p:cNvSpPr>
            <a:spLocks xmlns:a="http://schemas.openxmlformats.org/drawingml/2006/main" noGrp="1"/>
          </p:cNvSpPr>
          <p:nvPr/>
        </p:nvSpPr>
        <p:spPr>
          <a:xfrm xmlns:a="http://schemas.openxmlformats.org/drawingml/2006/main">
            <a:off x="619125" y="3429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SENTINEL</a:t>
            </a:r>
          </a:p>
        </p:txBody>
      </p:sp>
      <p:sp>
        <p:nvSpPr>
          <p:cNvPr id="2" name="">
            <a:extLst xmlns:a="http://schemas.openxmlformats.org/drawingml/2006/main">
              <a:ext uri="{FF2B5EF4-FFF2-40B4-BE49-F238E27FC236}">
                <a16:creationId xmlns:a16="http://schemas.microsoft.com/office/drawing/2014/main" id="{F4B5BE77-9D9A-47D3-8EA5-7B66A68D3208}"/>
              </a:ext>
            </a:extLst>
          </p:cNvPr>
          <p:cNvSpPr>
            <a:spLocks xmlns:a="http://schemas.openxmlformats.org/drawingml/2006/main" noGrp="1"/>
          </p:cNvSpPr>
          <p:nvPr/>
        </p:nvSpPr>
        <p:spPr>
          <a:xfrm xmlns:a="http://schemas.openxmlformats.org/drawingml/2006/main">
            <a:off x="10763250" y="342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579"/>
                </a:solidFill>
                <a:latin typeface="Helvetica Neue"/>
                <a:ea typeface="Helvetica Neue"/>
                <a:cs typeface="Helvetica Neue"/>
              </a:defRPr>
            </a:pPr>
            <a:r>
              <a:rPr sz="1125" b="0">
                <a:solidFill>
                  <a:srgbClr val="666579"/>
                </a:solidFill>
                <a:latin typeface="Helvetica Neue"/>
                <a:ea typeface="Helvetica Neue"/>
                <a:cs typeface="Helvetica Neue"/>
              </a:rPr>
              <a:t>01 / 06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809f25dc3c34d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2D14476-099E-4E57-AF24-5D07C5171023}"/>
              </a:ext>
            </a:extLst>
          </p:cNvPr>
          <p:cNvSpPr>
            <a:spLocks xmlns:a="http://schemas.openxmlformats.org/drawingml/2006/main" noGrp="1"/>
          </p:cNvSpPr>
          <p:nvPr/>
        </p:nvSpPr>
        <p:spPr>
          <a:xfrm xmlns:a="http://schemas.openxmlformats.org/drawingml/2006/main">
            <a:off x="619125" y="5334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6842D6"/>
                </a:solidFill>
                <a:latin typeface="Helvetica Neue"/>
                <a:ea typeface="Helvetica Neue"/>
                <a:cs typeface="Helvetica Neue"/>
              </a:defRPr>
            </a:pPr>
            <a:r>
              <a:rPr sz="1725" b="1">
                <a:solidFill>
                  <a:srgbClr val="6842D6"/>
                </a:solidFill>
                <a:latin typeface="Helvetica Neue"/>
                <a:ea typeface="Helvetica Neue"/>
                <a:cs typeface="Helvetica Neue"/>
              </a:rPr>
              <a:t>SENTINEL</a:t>
            </a:r>
          </a:p>
        </p:txBody>
      </p:sp>
      <p:sp>
        <p:nvSpPr>
          <p:cNvPr id="5" name="">
            <a:extLst xmlns:a="http://schemas.openxmlformats.org/drawingml/2006/main">
              <a:ext uri="{FF2B5EF4-FFF2-40B4-BE49-F238E27FC236}">
                <a16:creationId xmlns:a16="http://schemas.microsoft.com/office/drawing/2014/main" id="{DCAE9937-3B14-45D5-BF8A-A8FDF43C8EB5}"/>
              </a:ext>
            </a:extLst>
          </p:cNvPr>
          <p:cNvSpPr>
            <a:spLocks xmlns:a="http://schemas.openxmlformats.org/drawingml/2006/main" noGrp="1"/>
          </p:cNvSpPr>
          <p:nvPr/>
        </p:nvSpPr>
        <p:spPr>
          <a:xfrm xmlns:a="http://schemas.openxmlformats.org/drawingml/2006/main">
            <a:off x="619125" y="1924050"/>
            <a:ext cx="6572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222137"/>
                </a:solidFill>
                <a:latin typeface="Helvetica Neue"/>
                <a:ea typeface="Helvetica Neue"/>
                <a:cs typeface="Helvetica Neue"/>
              </a:defRPr>
            </a:pPr>
            <a:r>
              <a:rPr sz="4725" b="1">
                <a:solidFill>
                  <a:srgbClr val="222137"/>
                </a:solidFill>
                <a:latin typeface="Helvetica Neue"/>
                <a:ea typeface="Helvetica Neue"/>
                <a:cs typeface="Helvetica Neue"/>
              </a:rPr>
              <a:t>Your next purchase.</a:t>
            </a:r>
          </a:p>
          <a:p xmlns:a="http://schemas.openxmlformats.org/drawingml/2006/main">
            <a:pPr>
              <a:defRPr sz="4725" b="1">
                <a:solidFill>
                  <a:srgbClr val="222137"/>
                </a:solidFill>
                <a:latin typeface="Helvetica Neue"/>
                <a:ea typeface="Helvetica Neue"/>
                <a:cs typeface="Helvetica Neue"/>
              </a:defRPr>
            </a:pPr>
            <a:r>
              <a:rPr sz="4725" b="1">
                <a:solidFill>
                  <a:srgbClr val="222137"/>
                </a:solidFill>
                <a:latin typeface="Helvetica Neue"/>
                <a:ea typeface="Helvetica Neue"/>
                <a:cs typeface="Helvetica Neue"/>
              </a:rPr>
              <a:t>Handled.</a:t>
            </a:r>
          </a:p>
        </p:txBody>
      </p:sp>
      <p:sp>
        <p:nvSpPr>
          <p:cNvPr id="6" name="">
            <a:extLst xmlns:a="http://schemas.openxmlformats.org/drawingml/2006/main">
              <a:ext uri="{FF2B5EF4-FFF2-40B4-BE49-F238E27FC236}">
                <a16:creationId xmlns:a16="http://schemas.microsoft.com/office/drawing/2014/main" id="{304FB9C2-1FB3-47B5-923B-D095375BF064}"/>
              </a:ext>
            </a:extLst>
          </p:cNvPr>
          <p:cNvSpPr>
            <a:spLocks xmlns:a="http://schemas.openxmlformats.org/drawingml/2006/main" noGrp="1"/>
          </p:cNvSpPr>
          <p:nvPr/>
        </p:nvSpPr>
        <p:spPr>
          <a:xfrm xmlns:a="http://schemas.openxmlformats.org/drawingml/2006/main">
            <a:off x="666750" y="437197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66579"/>
                </a:solidFill>
                <a:latin typeface="Helvetica Neue"/>
                <a:ea typeface="Helvetica Neue"/>
                <a:cs typeface="Helvetica Neue"/>
              </a:defRPr>
            </a:pPr>
            <a:r>
              <a:rPr sz="2400" b="0">
                <a:solidFill>
                  <a:srgbClr val="666579"/>
                </a:solidFill>
                <a:latin typeface="Helvetica Neue"/>
                <a:ea typeface="Helvetica Neue"/>
                <a:cs typeface="Helvetica Neue"/>
              </a:rPr>
              <a:t>An AI shopping agent</a:t>
            </a:r>
          </a:p>
          <a:p xmlns:a="http://schemas.openxmlformats.org/drawingml/2006/main">
            <a:pPr>
              <a:defRPr sz="2400" b="0">
                <a:solidFill>
                  <a:srgbClr val="666579"/>
                </a:solidFill>
                <a:latin typeface="Helvetica Neue"/>
                <a:ea typeface="Helvetica Neue"/>
                <a:cs typeface="Helvetica Neue"/>
              </a:defRPr>
            </a:pPr>
            <a:r>
              <a:rPr sz="2400" b="0">
                <a:solidFill>
                  <a:srgbClr val="666579"/>
                </a:solidFill>
                <a:latin typeface="Helvetica Neue"/>
                <a:ea typeface="Helvetica Neue"/>
                <a:cs typeface="Helvetica Neue"/>
              </a:rPr>
              <a:t>that asks before it buys.</a:t>
            </a:r>
          </a:p>
        </p:txBody>
      </p:sp>
      <p:sp>
        <p:nvSpPr>
          <p:cNvPr id="7" name="">
            <a:extLst xmlns:a="http://schemas.openxmlformats.org/drawingml/2006/main">
              <a:ext uri="{FF2B5EF4-FFF2-40B4-BE49-F238E27FC236}">
                <a16:creationId xmlns:a16="http://schemas.microsoft.com/office/drawing/2014/main" id="{B129B433-D9DE-470B-8C67-6FA0FD776463}"/>
              </a:ext>
            </a:extLst>
          </p:cNvPr>
          <p:cNvSpPr>
            <a:spLocks xmlns:a="http://schemas.openxmlformats.org/drawingml/2006/main" noGrp="1"/>
          </p:cNvSpPr>
          <p:nvPr/>
        </p:nvSpPr>
        <p:spPr>
          <a:xfrm xmlns:a="http://schemas.openxmlformats.org/drawingml/2006/main">
            <a:off x="666750" y="61055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HACKATHON PRESENTATION</a:t>
            </a:r>
          </a:p>
        </p:txBody>
      </p:sp>
    </p:spTree>
    <p:extLst>
      <p:ext uri="{BB962C8B-B14F-4D97-AF65-F5344CB8AC3E}">
        <p14:creationId xmlns:p14="http://schemas.microsoft.com/office/powerpoint/2010/main" val="1664863267"/>
      </p:ext>
    </p:extLst>
  </p:cSld>
</p:sld>
</file>

<file path=ppt/slides/slide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818F6C-59D7-4042-BC05-3786847BB8E3}"/>
              </a:ext>
            </a:extLst>
          </p:cNvPr>
          <p:cNvSpPr>
            <a:spLocks xmlns:a="http://schemas.openxmlformats.org/drawingml/2006/main" noGrp="1"/>
          </p:cNvSpPr>
          <p:nvPr/>
        </p:nvSpPr>
        <p:spPr>
          <a:xfrm xmlns:a="http://schemas.openxmlformats.org/drawingml/2006/main">
            <a:off x="619125" y="3429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SENTINEL</a:t>
            </a:r>
          </a:p>
        </p:txBody>
      </p:sp>
      <p:sp>
        <p:nvSpPr>
          <p:cNvPr id="2" name="">
            <a:extLst xmlns:a="http://schemas.openxmlformats.org/drawingml/2006/main">
              <a:ext uri="{FF2B5EF4-FFF2-40B4-BE49-F238E27FC236}">
                <a16:creationId xmlns:a16="http://schemas.microsoft.com/office/drawing/2014/main" id="{9BAF1549-8F84-4481-B08E-3552CC202666}"/>
              </a:ext>
            </a:extLst>
          </p:cNvPr>
          <p:cNvSpPr>
            <a:spLocks xmlns:a="http://schemas.openxmlformats.org/drawingml/2006/main" noGrp="1"/>
          </p:cNvSpPr>
          <p:nvPr/>
        </p:nvSpPr>
        <p:spPr>
          <a:xfrm xmlns:a="http://schemas.openxmlformats.org/drawingml/2006/main">
            <a:off x="10763250" y="342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579"/>
                </a:solidFill>
                <a:latin typeface="Helvetica Neue"/>
                <a:ea typeface="Helvetica Neue"/>
                <a:cs typeface="Helvetica Neue"/>
              </a:defRPr>
            </a:pPr>
            <a:r>
              <a:rPr sz="1125" b="0">
                <a:solidFill>
                  <a:srgbClr val="666579"/>
                </a:solidFill>
                <a:latin typeface="Helvetica Neue"/>
                <a:ea typeface="Helvetica Neue"/>
                <a:cs typeface="Helvetica Neue"/>
              </a:rPr>
              <a:t>02 / 06</a:t>
            </a:r>
          </a:p>
        </p:txBody>
      </p:sp>
      <p:sp>
        <p:nvSpPr>
          <p:cNvPr id="3" name="">
            <a:extLst xmlns:a="http://schemas.openxmlformats.org/drawingml/2006/main">
              <a:ext uri="{FF2B5EF4-FFF2-40B4-BE49-F238E27FC236}">
                <a16:creationId xmlns:a16="http://schemas.microsoft.com/office/drawing/2014/main" id="{B5E0EFA6-53CA-4E99-9DBA-08C6FA1D60A0}"/>
              </a:ext>
            </a:extLst>
          </p:cNvPr>
          <p:cNvSpPr>
            <a:spLocks xmlns:a="http://schemas.openxmlformats.org/drawingml/2006/main" noGrp="1"/>
          </p:cNvSpPr>
          <p:nvPr/>
        </p:nvSpPr>
        <p:spPr>
          <a:xfrm xmlns:a="http://schemas.openxmlformats.org/drawingml/2006/main">
            <a:off x="619125" y="10763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THE PROBLEM</a:t>
            </a:r>
          </a:p>
        </p:txBody>
      </p:sp>
      <p:sp>
        <p:nvSpPr>
          <p:cNvPr id="4" name="">
            <a:extLst xmlns:a="http://schemas.openxmlformats.org/drawingml/2006/main">
              <a:ext uri="{FF2B5EF4-FFF2-40B4-BE49-F238E27FC236}">
                <a16:creationId xmlns:a16="http://schemas.microsoft.com/office/drawing/2014/main" id="{0BBE3988-6E69-4E00-9677-6C3C461EAC84}"/>
              </a:ext>
            </a:extLst>
          </p:cNvPr>
          <p:cNvSpPr>
            <a:spLocks xmlns:a="http://schemas.openxmlformats.org/drawingml/2006/main" noGrp="1"/>
          </p:cNvSpPr>
          <p:nvPr/>
        </p:nvSpPr>
        <p:spPr>
          <a:xfrm xmlns:a="http://schemas.openxmlformats.org/drawingml/2006/main">
            <a:off x="619125" y="15144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22137"/>
                </a:solidFill>
                <a:latin typeface="Helvetica Neue"/>
                <a:ea typeface="Helvetica Neue"/>
                <a:cs typeface="Helvetica Neue"/>
              </a:defRPr>
            </a:pPr>
            <a:r>
              <a:rPr sz="4350" b="1">
                <a:solidFill>
                  <a:srgbClr val="222137"/>
                </a:solidFill>
                <a:latin typeface="Helvetica Neue"/>
                <a:ea typeface="Helvetica Neue"/>
                <a:cs typeface="Helvetica Neue"/>
              </a:rPr>
              <a:t>Buying the right thing takes work</a:t>
            </a:r>
          </a:p>
        </p:txBody>
      </p:sp>
      <p:sp>
        <p:nvSpPr>
          <p:cNvPr id="5" name="">
            <a:extLst xmlns:a="http://schemas.openxmlformats.org/drawingml/2006/main">
              <a:ext uri="{FF2B5EF4-FFF2-40B4-BE49-F238E27FC236}">
                <a16:creationId xmlns:a16="http://schemas.microsoft.com/office/drawing/2014/main" id="{CF722E79-F670-423F-82D8-4C1924B954A0}"/>
              </a:ext>
            </a:extLst>
          </p:cNvPr>
          <p:cNvSpPr>
            <a:spLocks xmlns:a="http://schemas.openxmlformats.org/drawingml/2006/main" noGrp="1"/>
          </p:cNvSpPr>
          <p:nvPr/>
        </p:nvSpPr>
        <p:spPr>
          <a:xfrm xmlns:a="http://schemas.openxmlformats.org/drawingml/2006/main">
            <a:off x="619125" y="3048000"/>
            <a:ext cx="685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6842D6"/>
                </a:solidFill>
                <a:latin typeface="Helvetica Neue"/>
                <a:ea typeface="Helvetica Neue"/>
                <a:cs typeface="Helvetica Neue"/>
              </a:defRPr>
            </a:pPr>
            <a:r>
              <a:rPr sz="4575" b="1">
                <a:solidFill>
                  <a:srgbClr val="6842D6"/>
                </a:solidFill>
                <a:latin typeface="Helvetica Neue"/>
                <a:ea typeface="Helvetica Neue"/>
                <a:cs typeface="Helvetica Neue"/>
              </a:rPr>
              <a:t>“Will this actually</a:t>
            </a:r>
          </a:p>
          <a:p xmlns:a="http://schemas.openxmlformats.org/drawingml/2006/main">
            <a:pPr>
              <a:defRPr sz="4575" b="1">
                <a:solidFill>
                  <a:srgbClr val="6842D6"/>
                </a:solidFill>
                <a:latin typeface="Helvetica Neue"/>
                <a:ea typeface="Helvetica Neue"/>
                <a:cs typeface="Helvetica Neue"/>
              </a:defRPr>
            </a:pPr>
            <a:r>
              <a:rPr sz="4575" b="1">
                <a:solidFill>
                  <a:srgbClr val="6842D6"/>
                </a:solidFill>
                <a:latin typeface="Helvetica Neue"/>
                <a:ea typeface="Helvetica Neue"/>
                <a:cs typeface="Helvetica Neue"/>
              </a:rPr>
              <a:t>work for me?”</a:t>
            </a:r>
          </a:p>
        </p:txBody>
      </p:sp>
      <p:sp>
        <p:nvSpPr>
          <p:cNvPr id="6" name="">
            <a:extLst xmlns:a="http://schemas.openxmlformats.org/drawingml/2006/main">
              <a:ext uri="{FF2B5EF4-FFF2-40B4-BE49-F238E27FC236}">
                <a16:creationId xmlns:a16="http://schemas.microsoft.com/office/drawing/2014/main" id="{60A7BDD6-3598-4A80-ABD4-F4BB9F913453}"/>
              </a:ext>
            </a:extLst>
          </p:cNvPr>
          <p:cNvSpPr>
            <a:spLocks xmlns:a="http://schemas.openxmlformats.org/drawingml/2006/main" noGrp="1"/>
          </p:cNvSpPr>
          <p:nvPr/>
        </p:nvSpPr>
        <p:spPr>
          <a:xfrm xmlns:a="http://schemas.openxmlformats.org/drawingml/2006/main">
            <a:off x="7905750" y="29241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22137"/>
                </a:solidFill>
                <a:latin typeface="Helvetica Neue"/>
                <a:ea typeface="Helvetica Neue"/>
                <a:cs typeface="Helvetica Neue"/>
              </a:defRPr>
            </a:pPr>
            <a:r>
              <a:rPr sz="2250" b="1">
                <a:solidFill>
                  <a:srgbClr val="222137"/>
                </a:solidFill>
                <a:latin typeface="Helvetica Neue"/>
                <a:ea typeface="Helvetica Neue"/>
                <a:cs typeface="Helvetica Neue"/>
              </a:rPr>
              <a:t>Too many tabs.</a:t>
            </a:r>
          </a:p>
        </p:txBody>
      </p:sp>
      <p:sp>
        <p:nvSpPr>
          <p:cNvPr id="7" name="">
            <a:extLst xmlns:a="http://schemas.openxmlformats.org/drawingml/2006/main">
              <a:ext uri="{FF2B5EF4-FFF2-40B4-BE49-F238E27FC236}">
                <a16:creationId xmlns:a16="http://schemas.microsoft.com/office/drawing/2014/main" id="{6AADD9B9-5904-4705-BDFB-ABB6F1FF0070}"/>
              </a:ext>
            </a:extLst>
          </p:cNvPr>
          <p:cNvSpPr>
            <a:spLocks xmlns:a="http://schemas.openxmlformats.org/drawingml/2006/main" noGrp="1"/>
          </p:cNvSpPr>
          <p:nvPr/>
        </p:nvSpPr>
        <p:spPr>
          <a:xfrm xmlns:a="http://schemas.openxmlformats.org/drawingml/2006/main">
            <a:off x="7905750" y="3714750"/>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22137"/>
                </a:solidFill>
                <a:latin typeface="Helvetica Neue"/>
                <a:ea typeface="Helvetica Neue"/>
                <a:cs typeface="Helvetica Neue"/>
              </a:defRPr>
            </a:pPr>
            <a:r>
              <a:rPr sz="2250" b="1">
                <a:solidFill>
                  <a:srgbClr val="222137"/>
                </a:solidFill>
                <a:latin typeface="Helvetica Neue"/>
                <a:ea typeface="Helvetica Neue"/>
                <a:cs typeface="Helvetica Neue"/>
              </a:rPr>
              <a:t>Too many specifications.</a:t>
            </a:r>
          </a:p>
        </p:txBody>
      </p:sp>
      <p:sp>
        <p:nvSpPr>
          <p:cNvPr id="8" name="">
            <a:extLst xmlns:a="http://schemas.openxmlformats.org/drawingml/2006/main">
              <a:ext uri="{FF2B5EF4-FFF2-40B4-BE49-F238E27FC236}">
                <a16:creationId xmlns:a16="http://schemas.microsoft.com/office/drawing/2014/main" id="{4E4575CE-CC25-4C3F-ADA1-9B14D7A2B8D6}"/>
              </a:ext>
            </a:extLst>
          </p:cNvPr>
          <p:cNvSpPr>
            <a:spLocks xmlns:a="http://schemas.openxmlformats.org/drawingml/2006/main" noGrp="1"/>
          </p:cNvSpPr>
          <p:nvPr/>
        </p:nvSpPr>
        <p:spPr>
          <a:xfrm xmlns:a="http://schemas.openxmlformats.org/drawingml/2006/main">
            <a:off x="7905750" y="474345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22137"/>
                </a:solidFill>
                <a:latin typeface="Helvetica Neue"/>
                <a:ea typeface="Helvetica Neue"/>
                <a:cs typeface="Helvetica Neue"/>
              </a:defRPr>
            </a:pPr>
            <a:r>
              <a:rPr sz="2250" b="1">
                <a:solidFill>
                  <a:srgbClr val="222137"/>
                </a:solidFill>
                <a:latin typeface="Helvetica Neue"/>
                <a:ea typeface="Helvetica Neue"/>
                <a:cs typeface="Helvetica Neue"/>
              </a:rPr>
              <a:t>Too much checkout work.</a:t>
            </a:r>
          </a:p>
        </p:txBody>
      </p:sp>
      <p:sp>
        <p:nvSpPr>
          <p:cNvPr id="9" name="">
            <a:extLst xmlns:a="http://schemas.openxmlformats.org/drawingml/2006/main">
              <a:ext uri="{FF2B5EF4-FFF2-40B4-BE49-F238E27FC236}">
                <a16:creationId xmlns:a16="http://schemas.microsoft.com/office/drawing/2014/main" id="{889F5B6B-4B51-41F2-8408-A46F4CACBB4B}"/>
              </a:ext>
            </a:extLst>
          </p:cNvPr>
          <p:cNvSpPr>
            <a:spLocks xmlns:a="http://schemas.openxmlformats.org/drawingml/2006/main" noGrp="1"/>
          </p:cNvSpPr>
          <p:nvPr/>
        </p:nvSpPr>
        <p:spPr>
          <a:xfrm xmlns:a="http://schemas.openxmlformats.org/drawingml/2006/main">
            <a:off x="666750" y="58388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66579"/>
                </a:solidFill>
                <a:latin typeface="Helvetica Neue"/>
                <a:ea typeface="Helvetica Neue"/>
                <a:cs typeface="Helvetica Neue"/>
              </a:defRPr>
            </a:pPr>
            <a:r>
              <a:rPr sz="2025" b="0">
                <a:solidFill>
                  <a:srgbClr val="666579"/>
                </a:solidFill>
                <a:latin typeface="Helvetica Neue"/>
                <a:ea typeface="Helvetica Neue"/>
                <a:cs typeface="Helvetica Neue"/>
              </a:rPr>
              <a:t>People start with a need. Stores start with a product list.</a:t>
            </a:r>
          </a:p>
        </p:txBody>
      </p:sp>
    </p:spTree>
    <p:extLst>
      <p:ext uri="{BB962C8B-B14F-4D97-AF65-F5344CB8AC3E}">
        <p14:creationId xmlns:p14="http://schemas.microsoft.com/office/powerpoint/2010/main" val="530268740"/>
      </p:ext>
    </p:extLst>
  </p:cSld>
</p:sld>
</file>

<file path=ppt/slides/slide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9835F8-13FE-4B1F-8D81-2E312C161806}"/>
              </a:ext>
            </a:extLst>
          </p:cNvPr>
          <p:cNvSpPr>
            <a:spLocks xmlns:a="http://schemas.openxmlformats.org/drawingml/2006/main" noGrp="1"/>
          </p:cNvSpPr>
          <p:nvPr/>
        </p:nvSpPr>
        <p:spPr>
          <a:xfrm xmlns:a="http://schemas.openxmlformats.org/drawingml/2006/main">
            <a:off x="619125" y="3429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SENTINEL</a:t>
            </a:r>
          </a:p>
        </p:txBody>
      </p:sp>
      <p:sp>
        <p:nvSpPr>
          <p:cNvPr id="2" name="">
            <a:extLst xmlns:a="http://schemas.openxmlformats.org/drawingml/2006/main">
              <a:ext uri="{FF2B5EF4-FFF2-40B4-BE49-F238E27FC236}">
                <a16:creationId xmlns:a16="http://schemas.microsoft.com/office/drawing/2014/main" id="{2A6E32AE-D234-46CD-9E74-F7B32AA35167}"/>
              </a:ext>
            </a:extLst>
          </p:cNvPr>
          <p:cNvSpPr>
            <a:spLocks xmlns:a="http://schemas.openxmlformats.org/drawingml/2006/main" noGrp="1"/>
          </p:cNvSpPr>
          <p:nvPr/>
        </p:nvSpPr>
        <p:spPr>
          <a:xfrm xmlns:a="http://schemas.openxmlformats.org/drawingml/2006/main">
            <a:off x="10763250" y="342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579"/>
                </a:solidFill>
                <a:latin typeface="Helvetica Neue"/>
                <a:ea typeface="Helvetica Neue"/>
                <a:cs typeface="Helvetica Neue"/>
              </a:defRPr>
            </a:pPr>
            <a:r>
              <a:rPr sz="1125" b="0">
                <a:solidFill>
                  <a:srgbClr val="666579"/>
                </a:solidFill>
                <a:latin typeface="Helvetica Neue"/>
                <a:ea typeface="Helvetica Neue"/>
                <a:cs typeface="Helvetica Neue"/>
              </a:rPr>
              <a:t>03 / 06</a:t>
            </a:r>
          </a:p>
        </p:txBody>
      </p:sp>
      <p:sp>
        <p:nvSpPr>
          <p:cNvPr id="3" name="">
            <a:extLst xmlns:a="http://schemas.openxmlformats.org/drawingml/2006/main">
              <a:ext uri="{FF2B5EF4-FFF2-40B4-BE49-F238E27FC236}">
                <a16:creationId xmlns:a16="http://schemas.microsoft.com/office/drawing/2014/main" id="{D868CE88-DB66-427E-BDFD-F42ECB4D92F1}"/>
              </a:ext>
            </a:extLst>
          </p:cNvPr>
          <p:cNvSpPr>
            <a:spLocks xmlns:a="http://schemas.openxmlformats.org/drawingml/2006/main" noGrp="1"/>
          </p:cNvSpPr>
          <p:nvPr/>
        </p:nvSpPr>
        <p:spPr>
          <a:xfrm xmlns:a="http://schemas.openxmlformats.org/drawingml/2006/main">
            <a:off x="619125" y="10763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THE EXPERIENCE</a:t>
            </a:r>
          </a:p>
        </p:txBody>
      </p:sp>
      <p:sp>
        <p:nvSpPr>
          <p:cNvPr id="4" name="">
            <a:extLst xmlns:a="http://schemas.openxmlformats.org/drawingml/2006/main">
              <a:ext uri="{FF2B5EF4-FFF2-40B4-BE49-F238E27FC236}">
                <a16:creationId xmlns:a16="http://schemas.microsoft.com/office/drawing/2014/main" id="{3E8CCBF5-B226-4732-808B-9EB3203415AD}"/>
              </a:ext>
            </a:extLst>
          </p:cNvPr>
          <p:cNvSpPr>
            <a:spLocks xmlns:a="http://schemas.openxmlformats.org/drawingml/2006/main" noGrp="1"/>
          </p:cNvSpPr>
          <p:nvPr/>
        </p:nvSpPr>
        <p:spPr>
          <a:xfrm xmlns:a="http://schemas.openxmlformats.org/drawingml/2006/main">
            <a:off x="619125" y="15144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22137"/>
                </a:solidFill>
                <a:latin typeface="Helvetica Neue"/>
                <a:ea typeface="Helvetica Neue"/>
                <a:cs typeface="Helvetica Neue"/>
              </a:defRPr>
            </a:pPr>
            <a:r>
              <a:rPr sz="4350" b="1">
                <a:solidFill>
                  <a:srgbClr val="222137"/>
                </a:solidFill>
                <a:latin typeface="Helvetica Neue"/>
                <a:ea typeface="Helvetica Neue"/>
                <a:cs typeface="Helvetica Neue"/>
              </a:rPr>
              <a:t>Three ways to start</a:t>
            </a:r>
          </a:p>
        </p:txBody>
      </p:sp>
      <p:sp>
        <p:nvSpPr>
          <p:cNvPr id="5" name="">
            <a:extLst xmlns:a="http://schemas.openxmlformats.org/drawingml/2006/main">
              <a:ext uri="{FF2B5EF4-FFF2-40B4-BE49-F238E27FC236}">
                <a16:creationId xmlns:a16="http://schemas.microsoft.com/office/drawing/2014/main" id="{E5B0E232-820B-4617-A1EB-E48A67E6CA72}"/>
              </a:ext>
            </a:extLst>
          </p:cNvPr>
          <p:cNvSpPr>
            <a:spLocks xmlns:a="http://schemas.openxmlformats.org/drawingml/2006/main" noGrp="1"/>
          </p:cNvSpPr>
          <p:nvPr/>
        </p:nvSpPr>
        <p:spPr>
          <a:xfrm xmlns:a="http://schemas.openxmlformats.org/drawingml/2006/main">
            <a:off x="619125" y="28098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6842D6"/>
                </a:solidFill>
                <a:latin typeface="Helvetica Neue"/>
                <a:ea typeface="Helvetica Neue"/>
                <a:cs typeface="Helvetica Neue"/>
              </a:defRPr>
            </a:pPr>
            <a:r>
              <a:rPr sz="4800" b="1">
                <a:solidFill>
                  <a:srgbClr val="6842D6"/>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7ABC73B3-6829-49E5-BB50-26ECC450CCFC}"/>
              </a:ext>
            </a:extLst>
          </p:cNvPr>
          <p:cNvSpPr>
            <a:spLocks xmlns:a="http://schemas.openxmlformats.org/drawingml/2006/main" noGrp="1"/>
          </p:cNvSpPr>
          <p:nvPr/>
        </p:nvSpPr>
        <p:spPr>
          <a:xfrm xmlns:a="http://schemas.openxmlformats.org/drawingml/2006/main">
            <a:off x="619125" y="37623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22137"/>
                </a:solidFill>
                <a:latin typeface="Helvetica Neue"/>
                <a:ea typeface="Helvetica Neue"/>
                <a:cs typeface="Helvetica Neue"/>
              </a:defRPr>
            </a:pPr>
            <a:r>
              <a:rPr sz="2775" b="1">
                <a:solidFill>
                  <a:srgbClr val="222137"/>
                </a:solidFill>
                <a:latin typeface="Helvetica Neue"/>
                <a:ea typeface="Helvetica Neue"/>
                <a:cs typeface="Helvetica Neue"/>
              </a:rPr>
              <a:t>Request</a:t>
            </a:r>
          </a:p>
        </p:txBody>
      </p:sp>
      <p:sp>
        <p:nvSpPr>
          <p:cNvPr id="7" name="">
            <a:extLst xmlns:a="http://schemas.openxmlformats.org/drawingml/2006/main">
              <a:ext uri="{FF2B5EF4-FFF2-40B4-BE49-F238E27FC236}">
                <a16:creationId xmlns:a16="http://schemas.microsoft.com/office/drawing/2014/main" id="{89B51DA1-3F66-4F4E-AE34-A98EFA38AC48}"/>
              </a:ext>
            </a:extLst>
          </p:cNvPr>
          <p:cNvSpPr>
            <a:spLocks xmlns:a="http://schemas.openxmlformats.org/drawingml/2006/main" noGrp="1"/>
          </p:cNvSpPr>
          <p:nvPr/>
        </p:nvSpPr>
        <p:spPr>
          <a:xfrm xmlns:a="http://schemas.openxmlformats.org/drawingml/2006/main">
            <a:off x="619125" y="44291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22137"/>
                </a:solidFill>
                <a:latin typeface="Helvetica Neue"/>
                <a:ea typeface="Helvetica Neue"/>
                <a:cs typeface="Helvetica Neue"/>
              </a:defRPr>
            </a:pPr>
            <a:r>
              <a:rPr sz="1800" b="0">
                <a:solidFill>
                  <a:srgbClr val="222137"/>
                </a:solidFill>
                <a:latin typeface="Helvetica Neue"/>
                <a:ea typeface="Helvetica Neue"/>
                <a:cs typeface="Helvetica Neue"/>
              </a:rPr>
              <a:t>Tell it what you need.</a:t>
            </a:r>
          </a:p>
        </p:txBody>
      </p:sp>
      <p:sp>
        <p:nvSpPr>
          <p:cNvPr id="8" name="">
            <a:extLst xmlns:a="http://schemas.openxmlformats.org/drawingml/2006/main">
              <a:ext uri="{FF2B5EF4-FFF2-40B4-BE49-F238E27FC236}">
                <a16:creationId xmlns:a16="http://schemas.microsoft.com/office/drawing/2014/main" id="{1BE343A8-56D7-4E68-BF65-19786A10669A}"/>
              </a:ext>
            </a:extLst>
          </p:cNvPr>
          <p:cNvSpPr>
            <a:spLocks xmlns:a="http://schemas.openxmlformats.org/drawingml/2006/main" noGrp="1"/>
          </p:cNvSpPr>
          <p:nvPr/>
        </p:nvSpPr>
        <p:spPr>
          <a:xfrm xmlns:a="http://schemas.openxmlformats.org/drawingml/2006/main">
            <a:off x="619125" y="5057775"/>
            <a:ext cx="338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66579"/>
                </a:solidFill>
                <a:latin typeface="Helvetica Neue"/>
                <a:ea typeface="Helvetica Neue"/>
                <a:cs typeface="Helvetica Neue"/>
              </a:defRPr>
            </a:pPr>
            <a:r>
              <a:rPr sz="1950" b="0">
                <a:solidFill>
                  <a:srgbClr val="666579"/>
                </a:solidFill>
                <a:latin typeface="Helvetica Neue"/>
                <a:ea typeface="Helvetica Neue"/>
                <a:cs typeface="Helvetica Neue"/>
              </a:rPr>
              <a:t>“A portable monitor</a:t>
            </a:r>
          </a:p>
          <a:p xmlns:a="http://schemas.openxmlformats.org/drawingml/2006/main">
            <a:pPr>
              <a:defRPr sz="1950" b="0">
                <a:solidFill>
                  <a:srgbClr val="666579"/>
                </a:solidFill>
                <a:latin typeface="Helvetica Neue"/>
                <a:ea typeface="Helvetica Neue"/>
                <a:cs typeface="Helvetica Neue"/>
              </a:defRPr>
            </a:pPr>
            <a:r>
              <a:rPr sz="1950" b="0">
                <a:solidFill>
                  <a:srgbClr val="666579"/>
                </a:solidFill>
                <a:latin typeface="Helvetica Neue"/>
                <a:ea typeface="Helvetica Neue"/>
                <a:cs typeface="Helvetica Neue"/>
              </a:rPr>
              <a:t>under C$200.”</a:t>
            </a:r>
          </a:p>
        </p:txBody>
      </p:sp>
      <p:sp>
        <p:nvSpPr>
          <p:cNvPr id="9" name="">
            <a:extLst xmlns:a="http://schemas.openxmlformats.org/drawingml/2006/main">
              <a:ext uri="{FF2B5EF4-FFF2-40B4-BE49-F238E27FC236}">
                <a16:creationId xmlns:a16="http://schemas.microsoft.com/office/drawing/2014/main" id="{F60A789F-EF25-468E-BE11-D4A4CE01DEB8}"/>
              </a:ext>
            </a:extLst>
          </p:cNvPr>
          <p:cNvSpPr>
            <a:spLocks xmlns:a="http://schemas.openxmlformats.org/drawingml/2006/main" noGrp="1"/>
          </p:cNvSpPr>
          <p:nvPr/>
        </p:nvSpPr>
        <p:spPr>
          <a:xfrm xmlns:a="http://schemas.openxmlformats.org/drawingml/2006/main">
            <a:off x="4476750" y="28098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57E81"/>
                </a:solidFill>
                <a:latin typeface="Helvetica Neue"/>
                <a:ea typeface="Helvetica Neue"/>
                <a:cs typeface="Helvetica Neue"/>
              </a:defRPr>
            </a:pPr>
            <a:r>
              <a:rPr sz="4800" b="1">
                <a:solidFill>
                  <a:srgbClr val="157E81"/>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74D36972-04BC-42F0-A9A8-4A7D8210CFB4}"/>
              </a:ext>
            </a:extLst>
          </p:cNvPr>
          <p:cNvSpPr>
            <a:spLocks xmlns:a="http://schemas.openxmlformats.org/drawingml/2006/main" noGrp="1"/>
          </p:cNvSpPr>
          <p:nvPr/>
        </p:nvSpPr>
        <p:spPr>
          <a:xfrm xmlns:a="http://schemas.openxmlformats.org/drawingml/2006/main">
            <a:off x="4476750" y="37623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22137"/>
                </a:solidFill>
                <a:latin typeface="Helvetica Neue"/>
                <a:ea typeface="Helvetica Neue"/>
                <a:cs typeface="Helvetica Neue"/>
              </a:defRPr>
            </a:pPr>
            <a:r>
              <a:rPr sz="2775" b="1">
                <a:solidFill>
                  <a:srgbClr val="222137"/>
                </a:solidFill>
                <a:latin typeface="Helvetica Neue"/>
                <a:ea typeface="Helvetica Neue"/>
                <a:cs typeface="Helvetica Neue"/>
              </a:rPr>
              <a:t>Inspect</a:t>
            </a:r>
          </a:p>
        </p:txBody>
      </p:sp>
      <p:sp>
        <p:nvSpPr>
          <p:cNvPr id="11" name="">
            <a:extLst xmlns:a="http://schemas.openxmlformats.org/drawingml/2006/main">
              <a:ext uri="{FF2B5EF4-FFF2-40B4-BE49-F238E27FC236}">
                <a16:creationId xmlns:a16="http://schemas.microsoft.com/office/drawing/2014/main" id="{913CA7BA-81A0-441C-9790-584223AB8F5A}"/>
              </a:ext>
            </a:extLst>
          </p:cNvPr>
          <p:cNvSpPr>
            <a:spLocks xmlns:a="http://schemas.openxmlformats.org/drawingml/2006/main" noGrp="1"/>
          </p:cNvSpPr>
          <p:nvPr/>
        </p:nvSpPr>
        <p:spPr>
          <a:xfrm xmlns:a="http://schemas.openxmlformats.org/drawingml/2006/main">
            <a:off x="4476750" y="44291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22137"/>
                </a:solidFill>
                <a:latin typeface="Helvetica Neue"/>
                <a:ea typeface="Helvetica Neue"/>
                <a:cs typeface="Helvetica Neue"/>
              </a:defRPr>
            </a:pPr>
            <a:r>
              <a:rPr sz="1800" b="0">
                <a:solidFill>
                  <a:srgbClr val="222137"/>
                </a:solidFill>
                <a:latin typeface="Helvetica Neue"/>
                <a:ea typeface="Helvetica Neue"/>
                <a:cs typeface="Helvetica Neue"/>
              </a:rPr>
              <a:t>Show it a broken item.</a:t>
            </a:r>
          </a:p>
        </p:txBody>
      </p:sp>
      <p:sp>
        <p:nvSpPr>
          <p:cNvPr id="12" name="">
            <a:extLst xmlns:a="http://schemas.openxmlformats.org/drawingml/2006/main">
              <a:ext uri="{FF2B5EF4-FFF2-40B4-BE49-F238E27FC236}">
                <a16:creationId xmlns:a16="http://schemas.microsoft.com/office/drawing/2014/main" id="{B8873B07-A230-4308-961B-E8369A45C498}"/>
              </a:ext>
            </a:extLst>
          </p:cNvPr>
          <p:cNvSpPr>
            <a:spLocks xmlns:a="http://schemas.openxmlformats.org/drawingml/2006/main" noGrp="1"/>
          </p:cNvSpPr>
          <p:nvPr/>
        </p:nvSpPr>
        <p:spPr>
          <a:xfrm xmlns:a="http://schemas.openxmlformats.org/drawingml/2006/main">
            <a:off x="4476750" y="5057775"/>
            <a:ext cx="338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66579"/>
                </a:solidFill>
                <a:latin typeface="Helvetica Neue"/>
                <a:ea typeface="Helvetica Neue"/>
                <a:cs typeface="Helvetica Neue"/>
              </a:defRPr>
            </a:pPr>
            <a:r>
              <a:rPr sz="1950" b="0">
                <a:solidFill>
                  <a:srgbClr val="666579"/>
                </a:solidFill>
                <a:latin typeface="Helvetica Neue"/>
                <a:ea typeface="Helvetica Neue"/>
                <a:cs typeface="Helvetica Neue"/>
              </a:rPr>
              <a:t>Identify the part and</a:t>
            </a:r>
          </a:p>
          <a:p xmlns:a="http://schemas.openxmlformats.org/drawingml/2006/main">
            <a:pPr>
              <a:defRPr sz="1950" b="0">
                <a:solidFill>
                  <a:srgbClr val="666579"/>
                </a:solidFill>
                <a:latin typeface="Helvetica Neue"/>
                <a:ea typeface="Helvetica Neue"/>
                <a:cs typeface="Helvetica Neue"/>
              </a:defRPr>
            </a:pPr>
            <a:r>
              <a:rPr sz="1950" b="0">
                <a:solidFill>
                  <a:srgbClr val="666579"/>
                </a:solidFill>
                <a:latin typeface="Helvetica Neue"/>
                <a:ea typeface="Helvetica Neue"/>
                <a:cs typeface="Helvetica Neue"/>
              </a:rPr>
              <a:t>replacement needs.</a:t>
            </a:r>
          </a:p>
        </p:txBody>
      </p:sp>
      <p:sp>
        <p:nvSpPr>
          <p:cNvPr id="13" name="">
            <a:extLst xmlns:a="http://schemas.openxmlformats.org/drawingml/2006/main">
              <a:ext uri="{FF2B5EF4-FFF2-40B4-BE49-F238E27FC236}">
                <a16:creationId xmlns:a16="http://schemas.microsoft.com/office/drawing/2014/main" id="{5218FDEE-D29E-4B48-AE66-4BD6853ED8BF}"/>
              </a:ext>
            </a:extLst>
          </p:cNvPr>
          <p:cNvSpPr>
            <a:spLocks xmlns:a="http://schemas.openxmlformats.org/drawingml/2006/main" noGrp="1"/>
          </p:cNvSpPr>
          <p:nvPr/>
        </p:nvSpPr>
        <p:spPr>
          <a:xfrm xmlns:a="http://schemas.openxmlformats.org/drawingml/2006/main">
            <a:off x="8334375" y="28098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46A50"/>
                </a:solidFill>
                <a:latin typeface="Helvetica Neue"/>
                <a:ea typeface="Helvetica Neue"/>
                <a:cs typeface="Helvetica Neue"/>
              </a:defRPr>
            </a:pPr>
            <a:r>
              <a:rPr sz="4800" b="1">
                <a:solidFill>
                  <a:srgbClr val="D46A50"/>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11BA90DB-BBC8-4210-A25F-C1C60F3DA80D}"/>
              </a:ext>
            </a:extLst>
          </p:cNvPr>
          <p:cNvSpPr>
            <a:spLocks xmlns:a="http://schemas.openxmlformats.org/drawingml/2006/main" noGrp="1"/>
          </p:cNvSpPr>
          <p:nvPr/>
        </p:nvSpPr>
        <p:spPr>
          <a:xfrm xmlns:a="http://schemas.openxmlformats.org/drawingml/2006/main">
            <a:off x="8334375" y="37623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22137"/>
                </a:solidFill>
                <a:latin typeface="Helvetica Neue"/>
                <a:ea typeface="Helvetica Neue"/>
                <a:cs typeface="Helvetica Neue"/>
              </a:defRPr>
            </a:pPr>
            <a:r>
              <a:rPr sz="2775" b="1">
                <a:solidFill>
                  <a:srgbClr val="222137"/>
                </a:solidFill>
                <a:latin typeface="Helvetica Neue"/>
                <a:ea typeface="Helvetica Neue"/>
                <a:cs typeface="Helvetica Neue"/>
              </a:rPr>
              <a:t>Build</a:t>
            </a:r>
          </a:p>
        </p:txBody>
      </p:sp>
      <p:sp>
        <p:nvSpPr>
          <p:cNvPr id="15" name="">
            <a:extLst xmlns:a="http://schemas.openxmlformats.org/drawingml/2006/main">
              <a:ext uri="{FF2B5EF4-FFF2-40B4-BE49-F238E27FC236}">
                <a16:creationId xmlns:a16="http://schemas.microsoft.com/office/drawing/2014/main" id="{97D06F26-8B5E-498C-9672-AC6C293D2DD3}"/>
              </a:ext>
            </a:extLst>
          </p:cNvPr>
          <p:cNvSpPr>
            <a:spLocks xmlns:a="http://schemas.openxmlformats.org/drawingml/2006/main" noGrp="1"/>
          </p:cNvSpPr>
          <p:nvPr/>
        </p:nvSpPr>
        <p:spPr>
          <a:xfrm xmlns:a="http://schemas.openxmlformats.org/drawingml/2006/main">
            <a:off x="8334375" y="44291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22137"/>
                </a:solidFill>
                <a:latin typeface="Helvetica Neue"/>
                <a:ea typeface="Helvetica Neue"/>
                <a:cs typeface="Helvetica Neue"/>
              </a:defRPr>
            </a:pPr>
            <a:r>
              <a:rPr sz="1800" b="0">
                <a:solidFill>
                  <a:srgbClr val="222137"/>
                </a:solidFill>
                <a:latin typeface="Helvetica Neue"/>
                <a:ea typeface="Helvetica Neue"/>
                <a:cs typeface="Helvetica Neue"/>
              </a:rPr>
              <a:t>Show it what you want.</a:t>
            </a:r>
          </a:p>
        </p:txBody>
      </p:sp>
      <p:sp>
        <p:nvSpPr>
          <p:cNvPr id="16" name="">
            <a:extLst xmlns:a="http://schemas.openxmlformats.org/drawingml/2006/main">
              <a:ext uri="{FF2B5EF4-FFF2-40B4-BE49-F238E27FC236}">
                <a16:creationId xmlns:a16="http://schemas.microsoft.com/office/drawing/2014/main" id="{3B55199F-94F0-4361-A261-078D58F0BBC8}"/>
              </a:ext>
            </a:extLst>
          </p:cNvPr>
          <p:cNvSpPr>
            <a:spLocks xmlns:a="http://schemas.openxmlformats.org/drawingml/2006/main" noGrp="1"/>
          </p:cNvSpPr>
          <p:nvPr/>
        </p:nvSpPr>
        <p:spPr>
          <a:xfrm xmlns:a="http://schemas.openxmlformats.org/drawingml/2006/main">
            <a:off x="8334375" y="5057775"/>
            <a:ext cx="338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66579"/>
                </a:solidFill>
                <a:latin typeface="Helvetica Neue"/>
                <a:ea typeface="Helvetica Neue"/>
                <a:cs typeface="Helvetica Neue"/>
              </a:defRPr>
            </a:pPr>
            <a:r>
              <a:rPr sz="1950" b="0">
                <a:solidFill>
                  <a:srgbClr val="666579"/>
                </a:solidFill>
                <a:latin typeface="Helvetica Neue"/>
                <a:ea typeface="Helvetica Neue"/>
                <a:cs typeface="Helvetica Neue"/>
              </a:rPr>
              <a:t>Turn a reference photo</a:t>
            </a:r>
          </a:p>
          <a:p xmlns:a="http://schemas.openxmlformats.org/drawingml/2006/main">
            <a:pPr>
              <a:defRPr sz="1950" b="0">
                <a:solidFill>
                  <a:srgbClr val="666579"/>
                </a:solidFill>
                <a:latin typeface="Helvetica Neue"/>
                <a:ea typeface="Helvetica Neue"/>
                <a:cs typeface="Helvetica Neue"/>
              </a:defRPr>
            </a:pPr>
            <a:r>
              <a:rPr sz="1950" b="0">
                <a:solidFill>
                  <a:srgbClr val="666579"/>
                </a:solidFill>
                <a:latin typeface="Helvetica Neue"/>
                <a:ea typeface="Helvetica Neue"/>
                <a:cs typeface="Helvetica Neue"/>
              </a:rPr>
              <a:t>into a parts list.</a:t>
            </a:r>
          </a:p>
        </p:txBody>
      </p:sp>
    </p:spTree>
    <p:extLst>
      <p:ext uri="{BB962C8B-B14F-4D97-AF65-F5344CB8AC3E}">
        <p14:creationId xmlns:p14="http://schemas.microsoft.com/office/powerpoint/2010/main" val="1753418023"/>
      </p:ext>
    </p:extLst>
  </p:cSld>
</p:sld>
</file>

<file path=ppt/slides/slide4.xml><?xml version="1.0" encoding="utf-8"?>
<p:sld xmlns:p="http://schemas.openxmlformats.org/presentationml/2006/main">
  <p:cSld>
    <p:bg>
      <p:bgPr>
        <a:solidFill xmlns:a="http://schemas.openxmlformats.org/drawingml/2006/main">
          <a:srgbClr val="F1EDF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DC408DE-0681-4B35-AB61-CA2CD43A23D6}"/>
              </a:ext>
            </a:extLst>
          </p:cNvPr>
          <p:cNvSpPr>
            <a:spLocks xmlns:a="http://schemas.openxmlformats.org/drawingml/2006/main" noGrp="1"/>
          </p:cNvSpPr>
          <p:nvPr/>
        </p:nvSpPr>
        <p:spPr>
          <a:xfrm xmlns:a="http://schemas.openxmlformats.org/drawingml/2006/main">
            <a:off x="619125" y="3429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SENTINEL</a:t>
            </a:r>
          </a:p>
        </p:txBody>
      </p:sp>
      <p:sp>
        <p:nvSpPr>
          <p:cNvPr id="2" name="">
            <a:extLst xmlns:a="http://schemas.openxmlformats.org/drawingml/2006/main">
              <a:ext uri="{FF2B5EF4-FFF2-40B4-BE49-F238E27FC236}">
                <a16:creationId xmlns:a16="http://schemas.microsoft.com/office/drawing/2014/main" id="{2DBB6C7F-0099-4E05-AC73-226EAC9EDCF1}"/>
              </a:ext>
            </a:extLst>
          </p:cNvPr>
          <p:cNvSpPr>
            <a:spLocks xmlns:a="http://schemas.openxmlformats.org/drawingml/2006/main" noGrp="1"/>
          </p:cNvSpPr>
          <p:nvPr/>
        </p:nvSpPr>
        <p:spPr>
          <a:xfrm xmlns:a="http://schemas.openxmlformats.org/drawingml/2006/main">
            <a:off x="10763250" y="342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579"/>
                </a:solidFill>
                <a:latin typeface="Helvetica Neue"/>
                <a:ea typeface="Helvetica Neue"/>
                <a:cs typeface="Helvetica Neue"/>
              </a:defRPr>
            </a:pPr>
            <a:r>
              <a:rPr sz="1125" b="0">
                <a:solidFill>
                  <a:srgbClr val="666579"/>
                </a:solidFill>
                <a:latin typeface="Helvetica Neue"/>
                <a:ea typeface="Helvetica Neue"/>
                <a:cs typeface="Helvetica Neue"/>
              </a:rPr>
              <a:t>04 / 06</a:t>
            </a:r>
          </a:p>
        </p:txBody>
      </p:sp>
      <p:sp>
        <p:nvSpPr>
          <p:cNvPr id="3" name="">
            <a:extLst xmlns:a="http://schemas.openxmlformats.org/drawingml/2006/main">
              <a:ext uri="{FF2B5EF4-FFF2-40B4-BE49-F238E27FC236}">
                <a16:creationId xmlns:a16="http://schemas.microsoft.com/office/drawing/2014/main" id="{53450A77-024A-42EA-9C53-FB6025E5E4B2}"/>
              </a:ext>
            </a:extLst>
          </p:cNvPr>
          <p:cNvSpPr>
            <a:spLocks xmlns:a="http://schemas.openxmlformats.org/drawingml/2006/main" noGrp="1"/>
          </p:cNvSpPr>
          <p:nvPr/>
        </p:nvSpPr>
        <p:spPr>
          <a:xfrm xmlns:a="http://schemas.openxmlformats.org/drawingml/2006/main">
            <a:off x="619125" y="10763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THE AGENT JOURNEY</a:t>
            </a:r>
          </a:p>
        </p:txBody>
      </p:sp>
      <p:sp>
        <p:nvSpPr>
          <p:cNvPr id="4" name="">
            <a:extLst xmlns:a="http://schemas.openxmlformats.org/drawingml/2006/main">
              <a:ext uri="{FF2B5EF4-FFF2-40B4-BE49-F238E27FC236}">
                <a16:creationId xmlns:a16="http://schemas.microsoft.com/office/drawing/2014/main" id="{7586A0D3-317E-4660-AF65-D060D3318BC6}"/>
              </a:ext>
            </a:extLst>
          </p:cNvPr>
          <p:cNvSpPr>
            <a:spLocks xmlns:a="http://schemas.openxmlformats.org/drawingml/2006/main" noGrp="1"/>
          </p:cNvSpPr>
          <p:nvPr/>
        </p:nvSpPr>
        <p:spPr>
          <a:xfrm xmlns:a="http://schemas.openxmlformats.org/drawingml/2006/main">
            <a:off x="619125" y="15144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22137"/>
                </a:solidFill>
                <a:latin typeface="Helvetica Neue"/>
                <a:ea typeface="Helvetica Neue"/>
                <a:cs typeface="Helvetica Neue"/>
              </a:defRPr>
            </a:pPr>
            <a:r>
              <a:rPr sz="4350" b="1">
                <a:solidFill>
                  <a:srgbClr val="222137"/>
                </a:solidFill>
                <a:latin typeface="Helvetica Neue"/>
                <a:ea typeface="Helvetica Neue"/>
                <a:cs typeface="Helvetica Neue"/>
              </a:rPr>
              <a:t>You set the need. You approve the order.</a:t>
            </a:r>
          </a:p>
        </p:txBody>
      </p:sp>
      <p:sp>
        <p:nvSpPr>
          <p:cNvPr id="5" name="">
            <a:extLst xmlns:a="http://schemas.openxmlformats.org/drawingml/2006/main">
              <a:ext uri="{FF2B5EF4-FFF2-40B4-BE49-F238E27FC236}">
                <a16:creationId xmlns:a16="http://schemas.microsoft.com/office/drawing/2014/main" id="{8B9E591D-42D5-472C-9104-9ACCBDF29C5D}"/>
              </a:ext>
            </a:extLst>
          </p:cNvPr>
          <p:cNvSpPr>
            <a:spLocks xmlns:a="http://schemas.openxmlformats.org/drawingml/2006/main" noGrp="1"/>
          </p:cNvSpPr>
          <p:nvPr/>
        </p:nvSpPr>
        <p:spPr>
          <a:xfrm xmlns:a="http://schemas.openxmlformats.org/drawingml/2006/main">
            <a:off x="666750" y="2819400"/>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842D6"/>
                </a:solidFill>
                <a:latin typeface="Helvetica Neue"/>
                <a:ea typeface="Helvetica Neue"/>
                <a:cs typeface="Helvetica Neue"/>
              </a:defRPr>
            </a:pPr>
            <a:r>
              <a:rPr sz="2025" b="1">
                <a:solidFill>
                  <a:srgbClr val="6842D6"/>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32A3291A-2DD8-4FCD-8149-A7785A963710}"/>
              </a:ext>
            </a:extLst>
          </p:cNvPr>
          <p:cNvSpPr>
            <a:spLocks xmlns:a="http://schemas.openxmlformats.org/drawingml/2006/main" noGrp="1"/>
          </p:cNvSpPr>
          <p:nvPr/>
        </p:nvSpPr>
        <p:spPr>
          <a:xfrm xmlns:a="http://schemas.openxmlformats.org/drawingml/2006/main">
            <a:off x="1619250" y="2819400"/>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22137"/>
                </a:solidFill>
                <a:latin typeface="Helvetica Neue"/>
                <a:ea typeface="Helvetica Neue"/>
                <a:cs typeface="Helvetica Neue"/>
              </a:defRPr>
            </a:pPr>
            <a:r>
              <a:rPr sz="2175" b="1">
                <a:solidFill>
                  <a:srgbClr val="222137"/>
                </a:solidFill>
                <a:latin typeface="Helvetica Neue"/>
                <a:ea typeface="Helvetica Neue"/>
                <a:cs typeface="Helvetica Neue"/>
              </a:rPr>
              <a:t>Understand</a:t>
            </a:r>
          </a:p>
        </p:txBody>
      </p:sp>
      <p:sp>
        <p:nvSpPr>
          <p:cNvPr id="7" name="">
            <a:extLst xmlns:a="http://schemas.openxmlformats.org/drawingml/2006/main">
              <a:ext uri="{FF2B5EF4-FFF2-40B4-BE49-F238E27FC236}">
                <a16:creationId xmlns:a16="http://schemas.microsoft.com/office/drawing/2014/main" id="{76235D4C-AD25-47FC-8BC1-5ED7044E6BB7}"/>
              </a:ext>
            </a:extLst>
          </p:cNvPr>
          <p:cNvSpPr>
            <a:spLocks xmlns:a="http://schemas.openxmlformats.org/drawingml/2006/main" noGrp="1"/>
          </p:cNvSpPr>
          <p:nvPr/>
        </p:nvSpPr>
        <p:spPr>
          <a:xfrm xmlns:a="http://schemas.openxmlformats.org/drawingml/2006/main">
            <a:off x="6191250" y="281940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6579"/>
                </a:solidFill>
                <a:latin typeface="Helvetica Neue"/>
                <a:ea typeface="Helvetica Neue"/>
                <a:cs typeface="Helvetica Neue"/>
              </a:defRPr>
            </a:pPr>
            <a:r>
              <a:rPr sz="1875" b="0">
                <a:solidFill>
                  <a:srgbClr val="666579"/>
                </a:solidFill>
                <a:latin typeface="Helvetica Neue"/>
                <a:ea typeface="Helvetica Neue"/>
                <a:cs typeface="Helvetica Neue"/>
              </a:rPr>
              <a:t>Budget and requirements</a:t>
            </a:r>
          </a:p>
        </p:txBody>
      </p:sp>
      <p:sp>
        <p:nvSpPr>
          <p:cNvPr id="8" name="">
            <a:extLst xmlns:a="http://schemas.openxmlformats.org/drawingml/2006/main">
              <a:ext uri="{FF2B5EF4-FFF2-40B4-BE49-F238E27FC236}">
                <a16:creationId xmlns:a16="http://schemas.microsoft.com/office/drawing/2014/main" id="{3614D930-C8CA-438A-A889-56058362FD65}"/>
              </a:ext>
            </a:extLst>
          </p:cNvPr>
          <p:cNvSpPr>
            <a:spLocks xmlns:a="http://schemas.openxmlformats.org/drawingml/2006/main" noGrp="1"/>
          </p:cNvSpPr>
          <p:nvPr/>
        </p:nvSpPr>
        <p:spPr>
          <a:xfrm xmlns:a="http://schemas.openxmlformats.org/drawingml/2006/main">
            <a:off x="666750" y="3448050"/>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842D6"/>
                </a:solidFill>
                <a:latin typeface="Helvetica Neue"/>
                <a:ea typeface="Helvetica Neue"/>
                <a:cs typeface="Helvetica Neue"/>
              </a:defRPr>
            </a:pPr>
            <a:r>
              <a:rPr sz="2025" b="1">
                <a:solidFill>
                  <a:srgbClr val="6842D6"/>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77DD85B1-C250-49FD-A6A6-C3511D5217E1}"/>
              </a:ext>
            </a:extLst>
          </p:cNvPr>
          <p:cNvSpPr>
            <a:spLocks xmlns:a="http://schemas.openxmlformats.org/drawingml/2006/main" noGrp="1"/>
          </p:cNvSpPr>
          <p:nvPr/>
        </p:nvSpPr>
        <p:spPr>
          <a:xfrm xmlns:a="http://schemas.openxmlformats.org/drawingml/2006/main">
            <a:off x="1619250" y="3448050"/>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22137"/>
                </a:solidFill>
                <a:latin typeface="Helvetica Neue"/>
                <a:ea typeface="Helvetica Neue"/>
                <a:cs typeface="Helvetica Neue"/>
              </a:defRPr>
            </a:pPr>
            <a:r>
              <a:rPr sz="2175" b="1">
                <a:solidFill>
                  <a:srgbClr val="222137"/>
                </a:solidFill>
                <a:latin typeface="Helvetica Neue"/>
                <a:ea typeface="Helvetica Neue"/>
                <a:cs typeface="Helvetica Neue"/>
              </a:rPr>
              <a:t>Find &amp; compare</a:t>
            </a:r>
          </a:p>
        </p:txBody>
      </p:sp>
      <p:sp>
        <p:nvSpPr>
          <p:cNvPr id="10" name="">
            <a:extLst xmlns:a="http://schemas.openxmlformats.org/drawingml/2006/main">
              <a:ext uri="{FF2B5EF4-FFF2-40B4-BE49-F238E27FC236}">
                <a16:creationId xmlns:a16="http://schemas.microsoft.com/office/drawing/2014/main" id="{3703ADC5-6398-419E-977D-01A380A5D371}"/>
              </a:ext>
            </a:extLst>
          </p:cNvPr>
          <p:cNvSpPr>
            <a:spLocks xmlns:a="http://schemas.openxmlformats.org/drawingml/2006/main" noGrp="1"/>
          </p:cNvSpPr>
          <p:nvPr/>
        </p:nvSpPr>
        <p:spPr>
          <a:xfrm xmlns:a="http://schemas.openxmlformats.org/drawingml/2006/main">
            <a:off x="6191250" y="34480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6579"/>
                </a:solidFill>
                <a:latin typeface="Helvetica Neue"/>
                <a:ea typeface="Helvetica Neue"/>
                <a:cs typeface="Helvetica Neue"/>
              </a:defRPr>
            </a:pPr>
            <a:r>
              <a:rPr sz="1875" b="0">
                <a:solidFill>
                  <a:srgbClr val="666579"/>
                </a:solidFill>
                <a:latin typeface="Helvetica Neue"/>
                <a:ea typeface="Helvetica Neue"/>
                <a:cs typeface="Helvetica Neue"/>
              </a:rPr>
              <a:t>Products and compatibility</a:t>
            </a:r>
          </a:p>
        </p:txBody>
      </p:sp>
      <p:sp>
        <p:nvSpPr>
          <p:cNvPr id="11" name="">
            <a:extLst xmlns:a="http://schemas.openxmlformats.org/drawingml/2006/main">
              <a:ext uri="{FF2B5EF4-FFF2-40B4-BE49-F238E27FC236}">
                <a16:creationId xmlns:a16="http://schemas.microsoft.com/office/drawing/2014/main" id="{D960A1DA-2616-492E-B782-495A10E538B9}"/>
              </a:ext>
            </a:extLst>
          </p:cNvPr>
          <p:cNvSpPr>
            <a:spLocks xmlns:a="http://schemas.openxmlformats.org/drawingml/2006/main" noGrp="1"/>
          </p:cNvSpPr>
          <p:nvPr/>
        </p:nvSpPr>
        <p:spPr>
          <a:xfrm xmlns:a="http://schemas.openxmlformats.org/drawingml/2006/main">
            <a:off x="666750" y="4076700"/>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842D6"/>
                </a:solidFill>
                <a:latin typeface="Helvetica Neue"/>
                <a:ea typeface="Helvetica Neue"/>
                <a:cs typeface="Helvetica Neue"/>
              </a:defRPr>
            </a:pPr>
            <a:r>
              <a:rPr sz="2025" b="1">
                <a:solidFill>
                  <a:srgbClr val="6842D6"/>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3BD21F18-8B24-4F38-B352-35BFA6A1D712}"/>
              </a:ext>
            </a:extLst>
          </p:cNvPr>
          <p:cNvSpPr>
            <a:spLocks xmlns:a="http://schemas.openxmlformats.org/drawingml/2006/main" noGrp="1"/>
          </p:cNvSpPr>
          <p:nvPr/>
        </p:nvSpPr>
        <p:spPr>
          <a:xfrm xmlns:a="http://schemas.openxmlformats.org/drawingml/2006/main">
            <a:off x="1619250" y="4076700"/>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22137"/>
                </a:solidFill>
                <a:latin typeface="Helvetica Neue"/>
                <a:ea typeface="Helvetica Neue"/>
                <a:cs typeface="Helvetica Neue"/>
              </a:defRPr>
            </a:pPr>
            <a:r>
              <a:rPr sz="2175" b="1">
                <a:solidFill>
                  <a:srgbClr val="222137"/>
                </a:solidFill>
                <a:latin typeface="Helvetica Neue"/>
                <a:ea typeface="Helvetica Neue"/>
                <a:cs typeface="Helvetica Neue"/>
              </a:rPr>
              <a:t>Prepare checkout</a:t>
            </a:r>
          </a:p>
        </p:txBody>
      </p:sp>
      <p:sp>
        <p:nvSpPr>
          <p:cNvPr id="13" name="">
            <a:extLst xmlns:a="http://schemas.openxmlformats.org/drawingml/2006/main">
              <a:ext uri="{FF2B5EF4-FFF2-40B4-BE49-F238E27FC236}">
                <a16:creationId xmlns:a16="http://schemas.microsoft.com/office/drawing/2014/main" id="{5706E747-0186-4B71-8ADF-C74E0B07E3F8}"/>
              </a:ext>
            </a:extLst>
          </p:cNvPr>
          <p:cNvSpPr>
            <a:spLocks xmlns:a="http://schemas.openxmlformats.org/drawingml/2006/main" noGrp="1"/>
          </p:cNvSpPr>
          <p:nvPr/>
        </p:nvSpPr>
        <p:spPr>
          <a:xfrm xmlns:a="http://schemas.openxmlformats.org/drawingml/2006/main">
            <a:off x="6191250" y="407670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6579"/>
                </a:solidFill>
                <a:latin typeface="Helvetica Neue"/>
                <a:ea typeface="Helvetica Neue"/>
                <a:cs typeface="Helvetica Neue"/>
              </a:defRPr>
            </a:pPr>
            <a:r>
              <a:rPr sz="1875" b="0">
                <a:solidFill>
                  <a:srgbClr val="666579"/>
                </a:solidFill>
                <a:latin typeface="Helvetica Neue"/>
                <a:ea typeface="Helvetica Neue"/>
                <a:cs typeface="Helvetica Neue"/>
              </a:rPr>
              <a:t>Live price or maximum</a:t>
            </a:r>
          </a:p>
        </p:txBody>
      </p:sp>
      <p:sp>
        <p:nvSpPr>
          <p:cNvPr id="14" name="">
            <a:extLst xmlns:a="http://schemas.openxmlformats.org/drawingml/2006/main">
              <a:ext uri="{FF2B5EF4-FFF2-40B4-BE49-F238E27FC236}">
                <a16:creationId xmlns:a16="http://schemas.microsoft.com/office/drawing/2014/main" id="{38FCC5D0-26C1-4572-85FC-C3F196A962DF}"/>
              </a:ext>
            </a:extLst>
          </p:cNvPr>
          <p:cNvSpPr>
            <a:spLocks xmlns:a="http://schemas.openxmlformats.org/drawingml/2006/main" noGrp="1"/>
          </p:cNvSpPr>
          <p:nvPr/>
        </p:nvSpPr>
        <p:spPr>
          <a:xfrm xmlns:a="http://schemas.openxmlformats.org/drawingml/2006/main">
            <a:off x="666750" y="4705350"/>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46A50"/>
                </a:solidFill>
                <a:latin typeface="Helvetica Neue"/>
                <a:ea typeface="Helvetica Neue"/>
                <a:cs typeface="Helvetica Neue"/>
              </a:defRPr>
            </a:pPr>
            <a:r>
              <a:rPr sz="2025" b="1">
                <a:solidFill>
                  <a:srgbClr val="D46A50"/>
                </a:solidFill>
                <a:latin typeface="Helvetica Neue"/>
                <a:ea typeface="Helvetica Neue"/>
                <a:cs typeface="Helvetica Neue"/>
              </a:rPr>
              <a:t>04</a:t>
            </a:r>
          </a:p>
        </p:txBody>
      </p:sp>
      <p:sp>
        <p:nvSpPr>
          <p:cNvPr id="15" name="">
            <a:extLst xmlns:a="http://schemas.openxmlformats.org/drawingml/2006/main">
              <a:ext uri="{FF2B5EF4-FFF2-40B4-BE49-F238E27FC236}">
                <a16:creationId xmlns:a16="http://schemas.microsoft.com/office/drawing/2014/main" id="{78EF0C0E-32C6-4565-87B9-C98D860C93C6}"/>
              </a:ext>
            </a:extLst>
          </p:cNvPr>
          <p:cNvSpPr>
            <a:spLocks xmlns:a="http://schemas.openxmlformats.org/drawingml/2006/main" noGrp="1"/>
          </p:cNvSpPr>
          <p:nvPr/>
        </p:nvSpPr>
        <p:spPr>
          <a:xfrm xmlns:a="http://schemas.openxmlformats.org/drawingml/2006/main">
            <a:off x="1619250" y="4705350"/>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22137"/>
                </a:solidFill>
                <a:latin typeface="Helvetica Neue"/>
                <a:ea typeface="Helvetica Neue"/>
                <a:cs typeface="Helvetica Neue"/>
              </a:defRPr>
            </a:pPr>
            <a:r>
              <a:rPr sz="2175" b="1">
                <a:solidFill>
                  <a:srgbClr val="222137"/>
                </a:solidFill>
                <a:latin typeface="Helvetica Neue"/>
                <a:ea typeface="Helvetica Neue"/>
                <a:cs typeface="Helvetica Neue"/>
              </a:rPr>
              <a:t>Your approval</a:t>
            </a:r>
          </a:p>
        </p:txBody>
      </p:sp>
      <p:sp>
        <p:nvSpPr>
          <p:cNvPr id="16" name="">
            <a:extLst xmlns:a="http://schemas.openxmlformats.org/drawingml/2006/main">
              <a:ext uri="{FF2B5EF4-FFF2-40B4-BE49-F238E27FC236}">
                <a16:creationId xmlns:a16="http://schemas.microsoft.com/office/drawing/2014/main" id="{C7BF1655-05D8-4272-9F33-621DB037779E}"/>
              </a:ext>
            </a:extLst>
          </p:cNvPr>
          <p:cNvSpPr>
            <a:spLocks xmlns:a="http://schemas.openxmlformats.org/drawingml/2006/main" noGrp="1"/>
          </p:cNvSpPr>
          <p:nvPr/>
        </p:nvSpPr>
        <p:spPr>
          <a:xfrm xmlns:a="http://schemas.openxmlformats.org/drawingml/2006/main">
            <a:off x="6191250" y="47053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6579"/>
                </a:solidFill>
                <a:latin typeface="Helvetica Neue"/>
                <a:ea typeface="Helvetica Neue"/>
                <a:cs typeface="Helvetica Neue"/>
              </a:defRPr>
            </a:pPr>
            <a:r>
              <a:rPr sz="1875" b="0">
                <a:solidFill>
                  <a:srgbClr val="666579"/>
                </a:solidFill>
                <a:latin typeface="Helvetica Neue"/>
                <a:ea typeface="Helvetica Neue"/>
                <a:cs typeface="Helvetica Neue"/>
              </a:rPr>
              <a:t>An explicit confirmation</a:t>
            </a:r>
          </a:p>
        </p:txBody>
      </p:sp>
      <p:sp>
        <p:nvSpPr>
          <p:cNvPr id="17" name="">
            <a:extLst xmlns:a="http://schemas.openxmlformats.org/drawingml/2006/main">
              <a:ext uri="{FF2B5EF4-FFF2-40B4-BE49-F238E27FC236}">
                <a16:creationId xmlns:a16="http://schemas.microsoft.com/office/drawing/2014/main" id="{B52A95F5-3D9A-4906-BDBF-1A4D2618BB4E}"/>
              </a:ext>
            </a:extLst>
          </p:cNvPr>
          <p:cNvSpPr>
            <a:spLocks xmlns:a="http://schemas.openxmlformats.org/drawingml/2006/main" noGrp="1"/>
          </p:cNvSpPr>
          <p:nvPr/>
        </p:nvSpPr>
        <p:spPr>
          <a:xfrm xmlns:a="http://schemas.openxmlformats.org/drawingml/2006/main">
            <a:off x="666750" y="5334000"/>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842D6"/>
                </a:solidFill>
                <a:latin typeface="Helvetica Neue"/>
                <a:ea typeface="Helvetica Neue"/>
                <a:cs typeface="Helvetica Neue"/>
              </a:defRPr>
            </a:pPr>
            <a:r>
              <a:rPr sz="2025" b="1">
                <a:solidFill>
                  <a:srgbClr val="6842D6"/>
                </a:solidFill>
                <a:latin typeface="Helvetica Neue"/>
                <a:ea typeface="Helvetica Neue"/>
                <a:cs typeface="Helvetica Neue"/>
              </a:rPr>
              <a:t>05</a:t>
            </a:r>
          </a:p>
        </p:txBody>
      </p:sp>
      <p:sp>
        <p:nvSpPr>
          <p:cNvPr id="18" name="">
            <a:extLst xmlns:a="http://schemas.openxmlformats.org/drawingml/2006/main">
              <a:ext uri="{FF2B5EF4-FFF2-40B4-BE49-F238E27FC236}">
                <a16:creationId xmlns:a16="http://schemas.microsoft.com/office/drawing/2014/main" id="{019185E7-3D02-49E0-826E-65CFDB9AB08C}"/>
              </a:ext>
            </a:extLst>
          </p:cNvPr>
          <p:cNvSpPr>
            <a:spLocks xmlns:a="http://schemas.openxmlformats.org/drawingml/2006/main" noGrp="1"/>
          </p:cNvSpPr>
          <p:nvPr/>
        </p:nvSpPr>
        <p:spPr>
          <a:xfrm xmlns:a="http://schemas.openxmlformats.org/drawingml/2006/main">
            <a:off x="1619250" y="5334000"/>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22137"/>
                </a:solidFill>
                <a:latin typeface="Helvetica Neue"/>
                <a:ea typeface="Helvetica Neue"/>
                <a:cs typeface="Helvetica Neue"/>
              </a:defRPr>
            </a:pPr>
            <a:r>
              <a:rPr sz="2175" b="1">
                <a:solidFill>
                  <a:srgbClr val="222137"/>
                </a:solidFill>
                <a:latin typeface="Helvetica Neue"/>
                <a:ea typeface="Helvetica Neue"/>
                <a:cs typeface="Helvetica Neue"/>
              </a:rPr>
              <a:t>Complete &amp; track</a:t>
            </a:r>
          </a:p>
        </p:txBody>
      </p:sp>
      <p:sp>
        <p:nvSpPr>
          <p:cNvPr id="19" name="">
            <a:extLst xmlns:a="http://schemas.openxmlformats.org/drawingml/2006/main">
              <a:ext uri="{FF2B5EF4-FFF2-40B4-BE49-F238E27FC236}">
                <a16:creationId xmlns:a16="http://schemas.microsoft.com/office/drawing/2014/main" id="{AAF5ACE2-A77E-4736-B197-6F6CDC4DFBED}"/>
              </a:ext>
            </a:extLst>
          </p:cNvPr>
          <p:cNvSpPr>
            <a:spLocks xmlns:a="http://schemas.openxmlformats.org/drawingml/2006/main" noGrp="1"/>
          </p:cNvSpPr>
          <p:nvPr/>
        </p:nvSpPr>
        <p:spPr>
          <a:xfrm xmlns:a="http://schemas.openxmlformats.org/drawingml/2006/main">
            <a:off x="6191250" y="533400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6579"/>
                </a:solidFill>
                <a:latin typeface="Helvetica Neue"/>
                <a:ea typeface="Helvetica Neue"/>
                <a:cs typeface="Helvetica Neue"/>
              </a:defRPr>
            </a:pPr>
            <a:r>
              <a:rPr sz="1875" b="0">
                <a:solidFill>
                  <a:srgbClr val="666579"/>
                </a:solidFill>
                <a:latin typeface="Helvetica Neue"/>
                <a:ea typeface="Helvetica Neue"/>
                <a:cs typeface="Helvetica Neue"/>
              </a:rPr>
              <a:t>Provider result and history</a:t>
            </a:r>
          </a:p>
        </p:txBody>
      </p:sp>
    </p:spTree>
    <p:extLst>
      <p:ext uri="{BB962C8B-B14F-4D97-AF65-F5344CB8AC3E}">
        <p14:creationId xmlns:p14="http://schemas.microsoft.com/office/powerpoint/2010/main" val="717256379"/>
      </p:ext>
    </p:extLst>
  </p:cSld>
</p:sld>
</file>

<file path=ppt/slides/slide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4A7C8C-3788-40B8-9228-63FFF16375A8}"/>
              </a:ext>
            </a:extLst>
          </p:cNvPr>
          <p:cNvSpPr>
            <a:spLocks xmlns:a="http://schemas.openxmlformats.org/drawingml/2006/main" noGrp="1"/>
          </p:cNvSpPr>
          <p:nvPr/>
        </p:nvSpPr>
        <p:spPr>
          <a:xfrm xmlns:a="http://schemas.openxmlformats.org/drawingml/2006/main">
            <a:off x="619125" y="3429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SENTINEL</a:t>
            </a:r>
          </a:p>
        </p:txBody>
      </p:sp>
      <p:sp>
        <p:nvSpPr>
          <p:cNvPr id="2" name="">
            <a:extLst xmlns:a="http://schemas.openxmlformats.org/drawingml/2006/main">
              <a:ext uri="{FF2B5EF4-FFF2-40B4-BE49-F238E27FC236}">
                <a16:creationId xmlns:a16="http://schemas.microsoft.com/office/drawing/2014/main" id="{EE0B058A-724B-4EDD-9081-03D0231A5333}"/>
              </a:ext>
            </a:extLst>
          </p:cNvPr>
          <p:cNvSpPr>
            <a:spLocks xmlns:a="http://schemas.openxmlformats.org/drawingml/2006/main" noGrp="1"/>
          </p:cNvSpPr>
          <p:nvPr/>
        </p:nvSpPr>
        <p:spPr>
          <a:xfrm xmlns:a="http://schemas.openxmlformats.org/drawingml/2006/main">
            <a:off x="10763250" y="342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579"/>
                </a:solidFill>
                <a:latin typeface="Helvetica Neue"/>
                <a:ea typeface="Helvetica Neue"/>
                <a:cs typeface="Helvetica Neue"/>
              </a:defRPr>
            </a:pPr>
            <a:r>
              <a:rPr sz="1125" b="0">
                <a:solidFill>
                  <a:srgbClr val="666579"/>
                </a:solidFill>
                <a:latin typeface="Helvetica Neue"/>
                <a:ea typeface="Helvetica Neue"/>
                <a:cs typeface="Helvetica Neue"/>
              </a:rPr>
              <a:t>05 / 06</a:t>
            </a:r>
          </a:p>
        </p:txBody>
      </p:sp>
      <p:sp>
        <p:nvSpPr>
          <p:cNvPr id="3" name="">
            <a:extLst xmlns:a="http://schemas.openxmlformats.org/drawingml/2006/main">
              <a:ext uri="{FF2B5EF4-FFF2-40B4-BE49-F238E27FC236}">
                <a16:creationId xmlns:a16="http://schemas.microsoft.com/office/drawing/2014/main" id="{F50F9C26-3DB4-47CB-97F7-BFF0C171A4D2}"/>
              </a:ext>
            </a:extLst>
          </p:cNvPr>
          <p:cNvSpPr>
            <a:spLocks xmlns:a="http://schemas.openxmlformats.org/drawingml/2006/main" noGrp="1"/>
          </p:cNvSpPr>
          <p:nvPr/>
        </p:nvSpPr>
        <p:spPr>
          <a:xfrm xmlns:a="http://schemas.openxmlformats.org/drawingml/2006/main">
            <a:off x="619125" y="10763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BEHIND THE EXPERIENCE</a:t>
            </a:r>
          </a:p>
        </p:txBody>
      </p:sp>
      <p:sp>
        <p:nvSpPr>
          <p:cNvPr id="4" name="">
            <a:extLst xmlns:a="http://schemas.openxmlformats.org/drawingml/2006/main">
              <a:ext uri="{FF2B5EF4-FFF2-40B4-BE49-F238E27FC236}">
                <a16:creationId xmlns:a16="http://schemas.microsoft.com/office/drawing/2014/main" id="{42B33685-506D-46AF-86BD-3CB6B3515047}"/>
              </a:ext>
            </a:extLst>
          </p:cNvPr>
          <p:cNvSpPr>
            <a:spLocks xmlns:a="http://schemas.openxmlformats.org/drawingml/2006/main" noGrp="1"/>
          </p:cNvSpPr>
          <p:nvPr/>
        </p:nvSpPr>
        <p:spPr>
          <a:xfrm xmlns:a="http://schemas.openxmlformats.org/drawingml/2006/main">
            <a:off x="619125" y="15144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22137"/>
                </a:solidFill>
                <a:latin typeface="Helvetica Neue"/>
                <a:ea typeface="Helvetica Neue"/>
                <a:cs typeface="Helvetica Neue"/>
              </a:defRPr>
            </a:pPr>
            <a:r>
              <a:rPr sz="4350" b="1">
                <a:solidFill>
                  <a:srgbClr val="222137"/>
                </a:solidFill>
                <a:latin typeface="Helvetica Neue"/>
                <a:ea typeface="Helvetica Neue"/>
                <a:cs typeface="Helvetica Neue"/>
              </a:rPr>
              <a:t>AI reasoning. Connected checkout.</a:t>
            </a:r>
          </a:p>
        </p:txBody>
      </p:sp>
      <p:sp>
        <p:nvSpPr>
          <p:cNvPr id="5" name="">
            <a:extLst xmlns:a="http://schemas.openxmlformats.org/drawingml/2006/main">
              <a:ext uri="{FF2B5EF4-FFF2-40B4-BE49-F238E27FC236}">
                <a16:creationId xmlns:a16="http://schemas.microsoft.com/office/drawing/2014/main" id="{C50DE9BC-2454-49F7-AC03-0B76B51F22C7}"/>
              </a:ext>
            </a:extLst>
          </p:cNvPr>
          <p:cNvSpPr>
            <a:spLocks xmlns:a="http://schemas.openxmlformats.org/drawingml/2006/main" noGrp="1"/>
          </p:cNvSpPr>
          <p:nvPr/>
        </p:nvSpPr>
        <p:spPr>
          <a:xfrm xmlns:a="http://schemas.openxmlformats.org/drawingml/2006/main">
            <a:off x="619125" y="2943225"/>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842D6"/>
                </a:solidFill>
                <a:latin typeface="Helvetica Neue"/>
                <a:ea typeface="Helvetica Neue"/>
                <a:cs typeface="Helvetica Neue"/>
              </a:defRPr>
            </a:pPr>
            <a:r>
              <a:rPr sz="3375" b="1">
                <a:solidFill>
                  <a:srgbClr val="6842D6"/>
                </a:solidFill>
                <a:latin typeface="Helvetica Neue"/>
                <a:ea typeface="Helvetica Neue"/>
                <a:cs typeface="Helvetica Neue"/>
              </a:rPr>
              <a:t>OpenAI</a:t>
            </a:r>
          </a:p>
        </p:txBody>
      </p:sp>
      <p:sp>
        <p:nvSpPr>
          <p:cNvPr id="6" name="">
            <a:extLst xmlns:a="http://schemas.openxmlformats.org/drawingml/2006/main">
              <a:ext uri="{FF2B5EF4-FFF2-40B4-BE49-F238E27FC236}">
                <a16:creationId xmlns:a16="http://schemas.microsoft.com/office/drawing/2014/main" id="{DF36A732-651F-4F7C-AE0F-F62DC51BBED9}"/>
              </a:ext>
            </a:extLst>
          </p:cNvPr>
          <p:cNvSpPr>
            <a:spLocks xmlns:a="http://schemas.openxmlformats.org/drawingml/2006/main" noGrp="1"/>
          </p:cNvSpPr>
          <p:nvPr/>
        </p:nvSpPr>
        <p:spPr>
          <a:xfrm xmlns:a="http://schemas.openxmlformats.org/drawingml/2006/main">
            <a:off x="619125" y="3810000"/>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66579"/>
                </a:solidFill>
                <a:latin typeface="Helvetica Neue"/>
                <a:ea typeface="Helvetica Neue"/>
                <a:cs typeface="Helvetica Neue"/>
              </a:defRPr>
            </a:pPr>
            <a:r>
              <a:rPr sz="2250" b="0">
                <a:solidFill>
                  <a:srgbClr val="666579"/>
                </a:solidFill>
                <a:latin typeface="Helvetica Neue"/>
                <a:ea typeface="Helvetica Neue"/>
                <a:cs typeface="Helvetica Neue"/>
              </a:rPr>
              <a:t>Understands the request</a:t>
            </a:r>
          </a:p>
          <a:p xmlns:a="http://schemas.openxmlformats.org/drawingml/2006/main">
            <a:pPr>
              <a:defRPr sz="2250" b="0">
                <a:solidFill>
                  <a:srgbClr val="666579"/>
                </a:solidFill>
                <a:latin typeface="Helvetica Neue"/>
                <a:ea typeface="Helvetica Neue"/>
                <a:cs typeface="Helvetica Neue"/>
              </a:defRPr>
            </a:pPr>
            <a:r>
              <a:rPr sz="2250" b="0">
                <a:solidFill>
                  <a:srgbClr val="666579"/>
                </a:solidFill>
                <a:latin typeface="Helvetica Neue"/>
                <a:ea typeface="Helvetica Neue"/>
                <a:cs typeface="Helvetica Neue"/>
              </a:rPr>
              <a:t>and the uploaded image.</a:t>
            </a:r>
          </a:p>
          <a:p xmlns:a="http://schemas.openxmlformats.org/drawingml/2006/main">
            <a:pPr>
              <a:defRPr sz="2250" b="0">
                <a:solidFill>
                  <a:srgbClr val="666579"/>
                </a:solidFill>
                <a:latin typeface="Helvetica Neue"/>
                <a:ea typeface="Helvetica Neue"/>
                <a:cs typeface="Helvetica Neue"/>
              </a:defRPr>
            </a:pPr>
            <a:r>
              <a:rPr sz="2250" b="0">
                <a:solidFill>
                  <a:srgbClr val="666579"/>
                </a:solidFill>
                <a:latin typeface="Helvetica Neue"/>
                <a:ea typeface="Helvetica Neue"/>
                <a:cs typeface="Helvetica Neue"/>
              </a:rPr>
              <a:t>Helps evaluate product fit.</a:t>
            </a:r>
          </a:p>
        </p:txBody>
      </p:sp>
      <p:sp>
        <p:nvSpPr>
          <p:cNvPr id="7" name="">
            <a:extLst xmlns:a="http://schemas.openxmlformats.org/drawingml/2006/main">
              <a:ext uri="{FF2B5EF4-FFF2-40B4-BE49-F238E27FC236}">
                <a16:creationId xmlns:a16="http://schemas.microsoft.com/office/drawing/2014/main" id="{F01A0974-C9E1-4A01-ADB2-3B310899A6E6}"/>
              </a:ext>
            </a:extLst>
          </p:cNvPr>
          <p:cNvSpPr>
            <a:spLocks xmlns:a="http://schemas.openxmlformats.org/drawingml/2006/main" noGrp="1"/>
          </p:cNvSpPr>
          <p:nvPr/>
        </p:nvSpPr>
        <p:spPr>
          <a:xfrm xmlns:a="http://schemas.openxmlformats.org/drawingml/2006/main">
            <a:off x="6810375" y="2943225"/>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57E81"/>
                </a:solidFill>
                <a:latin typeface="Helvetica Neue"/>
                <a:ea typeface="Helvetica Neue"/>
                <a:cs typeface="Helvetica Neue"/>
              </a:defRPr>
            </a:pPr>
            <a:r>
              <a:rPr sz="3375" b="1">
                <a:solidFill>
                  <a:srgbClr val="157E81"/>
                </a:solidFill>
                <a:latin typeface="Helvetica Neue"/>
                <a:ea typeface="Helvetica Neue"/>
                <a:cs typeface="Helvetica Neue"/>
              </a:rPr>
              <a:t>Agnic</a:t>
            </a:r>
          </a:p>
        </p:txBody>
      </p:sp>
      <p:sp>
        <p:nvSpPr>
          <p:cNvPr id="8" name="">
            <a:extLst xmlns:a="http://schemas.openxmlformats.org/drawingml/2006/main">
              <a:ext uri="{FF2B5EF4-FFF2-40B4-BE49-F238E27FC236}">
                <a16:creationId xmlns:a16="http://schemas.microsoft.com/office/drawing/2014/main" id="{5F24D73B-CC0B-4825-8186-79C99F37DBBD}"/>
              </a:ext>
            </a:extLst>
          </p:cNvPr>
          <p:cNvSpPr>
            <a:spLocks xmlns:a="http://schemas.openxmlformats.org/drawingml/2006/main" noGrp="1"/>
          </p:cNvSpPr>
          <p:nvPr/>
        </p:nvSpPr>
        <p:spPr>
          <a:xfrm xmlns:a="http://schemas.openxmlformats.org/drawingml/2006/main">
            <a:off x="6810375" y="3810000"/>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66579"/>
                </a:solidFill>
                <a:latin typeface="Helvetica Neue"/>
                <a:ea typeface="Helvetica Neue"/>
                <a:cs typeface="Helvetica Neue"/>
              </a:defRPr>
            </a:pPr>
            <a:r>
              <a:rPr sz="2250" b="0">
                <a:solidFill>
                  <a:srgbClr val="666579"/>
                </a:solidFill>
                <a:latin typeface="Helvetica Neue"/>
                <a:ea typeface="Helvetica Neue"/>
                <a:cs typeface="Helvetica Neue"/>
              </a:rPr>
              <a:t>Finds products and quotes.</a:t>
            </a:r>
          </a:p>
          <a:p xmlns:a="http://schemas.openxmlformats.org/drawingml/2006/main">
            <a:pPr>
              <a:defRPr sz="2250" b="0">
                <a:solidFill>
                  <a:srgbClr val="666579"/>
                </a:solidFill>
                <a:latin typeface="Helvetica Neue"/>
                <a:ea typeface="Helvetica Neue"/>
                <a:cs typeface="Helvetica Neue"/>
              </a:defRPr>
            </a:pPr>
            <a:r>
              <a:rPr sz="2250" b="0">
                <a:solidFill>
                  <a:srgbClr val="666579"/>
                </a:solidFill>
                <a:latin typeface="Helvetica Neue"/>
                <a:ea typeface="Helvetica Neue"/>
                <a:cs typeface="Helvetica Neue"/>
              </a:rPr>
              <a:t>Runs sandbox checkout.</a:t>
            </a:r>
          </a:p>
          <a:p xmlns:a="http://schemas.openxmlformats.org/drawingml/2006/main">
            <a:pPr>
              <a:defRPr sz="2250" b="0">
                <a:solidFill>
                  <a:srgbClr val="666579"/>
                </a:solidFill>
                <a:latin typeface="Helvetica Neue"/>
                <a:ea typeface="Helvetica Neue"/>
                <a:cs typeface="Helvetica Neue"/>
              </a:defRPr>
            </a:pPr>
            <a:r>
              <a:rPr sz="2250" b="0">
                <a:solidFill>
                  <a:srgbClr val="666579"/>
                </a:solidFill>
                <a:latin typeface="Helvetica Neue"/>
                <a:ea typeface="Helvetica Neue"/>
                <a:cs typeface="Helvetica Neue"/>
              </a:rPr>
              <a:t>Returns order evidence.</a:t>
            </a:r>
          </a:p>
        </p:txBody>
      </p:sp>
      <p:sp>
        <p:nvSpPr>
          <p:cNvPr id="9" name="">
            <a:extLst xmlns:a="http://schemas.openxmlformats.org/drawingml/2006/main">
              <a:ext uri="{FF2B5EF4-FFF2-40B4-BE49-F238E27FC236}">
                <a16:creationId xmlns:a16="http://schemas.microsoft.com/office/drawing/2014/main" id="{978A46EF-7A7F-4560-AEBF-F82B059C0F0B}"/>
              </a:ext>
            </a:extLst>
          </p:cNvPr>
          <p:cNvSpPr>
            <a:spLocks xmlns:a="http://schemas.openxmlformats.org/drawingml/2006/main" noGrp="1"/>
          </p:cNvSpPr>
          <p:nvPr/>
        </p:nvSpPr>
        <p:spPr>
          <a:xfrm xmlns:a="http://schemas.openxmlformats.org/drawingml/2006/main">
            <a:off x="619125" y="57340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22137"/>
                </a:solidFill>
                <a:latin typeface="Helvetica Neue"/>
                <a:ea typeface="Helvetica Neue"/>
                <a:cs typeface="Helvetica Neue"/>
              </a:defRPr>
            </a:pPr>
            <a:r>
              <a:rPr sz="1800" b="1">
                <a:solidFill>
                  <a:srgbClr val="222137"/>
                </a:solidFill>
                <a:latin typeface="Helvetica Neue"/>
                <a:ea typeface="Helvetica Neue"/>
                <a:cs typeface="Helvetica Neue"/>
              </a:rPr>
              <a:t>Next.js + TypeScript</a:t>
            </a:r>
          </a:p>
        </p:txBody>
      </p:sp>
      <p:sp>
        <p:nvSpPr>
          <p:cNvPr id="10" name="">
            <a:extLst xmlns:a="http://schemas.openxmlformats.org/drawingml/2006/main">
              <a:ext uri="{FF2B5EF4-FFF2-40B4-BE49-F238E27FC236}">
                <a16:creationId xmlns:a16="http://schemas.microsoft.com/office/drawing/2014/main" id="{3B4C7D64-8449-46D2-86B6-B86150A921F3}"/>
              </a:ext>
            </a:extLst>
          </p:cNvPr>
          <p:cNvSpPr>
            <a:spLocks xmlns:a="http://schemas.openxmlformats.org/drawingml/2006/main" noGrp="1"/>
          </p:cNvSpPr>
          <p:nvPr/>
        </p:nvSpPr>
        <p:spPr>
          <a:xfrm xmlns:a="http://schemas.openxmlformats.org/drawingml/2006/main">
            <a:off x="5762625" y="5734050"/>
            <a:ext cx="585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22137"/>
                </a:solidFill>
                <a:latin typeface="Helvetica Neue"/>
                <a:ea typeface="Helvetica Neue"/>
                <a:cs typeface="Helvetica Neue"/>
              </a:defRPr>
            </a:pPr>
            <a:r>
              <a:rPr sz="1800" b="0">
                <a:solidFill>
                  <a:srgbClr val="222137"/>
                </a:solidFill>
                <a:latin typeface="Helvetica Neue"/>
                <a:ea typeface="Helvetica Neue"/>
                <a:cs typeface="Helvetica Neue"/>
              </a:rPr>
              <a:t>Server-side keys. Approval before dispatch.</a:t>
            </a:r>
          </a:p>
        </p:txBody>
      </p:sp>
    </p:spTree>
    <p:extLst>
      <p:ext uri="{BB962C8B-B14F-4D97-AF65-F5344CB8AC3E}">
        <p14:creationId xmlns:p14="http://schemas.microsoft.com/office/powerpoint/2010/main" val="1201553675"/>
      </p:ext>
    </p:extLst>
  </p:cSld>
</p:sld>
</file>

<file path=ppt/slides/slide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D36FE5-0D97-45C5-B650-53FBA865EBB8}"/>
              </a:ext>
            </a:extLst>
          </p:cNvPr>
          <p:cNvSpPr>
            <a:spLocks xmlns:a="http://schemas.openxmlformats.org/drawingml/2006/main" noGrp="1"/>
          </p:cNvSpPr>
          <p:nvPr/>
        </p:nvSpPr>
        <p:spPr>
          <a:xfrm xmlns:a="http://schemas.openxmlformats.org/drawingml/2006/main">
            <a:off x="619125" y="3429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842D6"/>
                </a:solidFill>
                <a:latin typeface="Helvetica Neue"/>
                <a:ea typeface="Helvetica Neue"/>
                <a:cs typeface="Helvetica Neue"/>
              </a:defRPr>
            </a:pPr>
            <a:r>
              <a:rPr sz="1275" b="1">
                <a:solidFill>
                  <a:srgbClr val="6842D6"/>
                </a:solidFill>
                <a:latin typeface="Helvetica Neue"/>
                <a:ea typeface="Helvetica Neue"/>
                <a:cs typeface="Helvetica Neue"/>
              </a:rPr>
              <a:t>SENTINEL</a:t>
            </a:r>
          </a:p>
        </p:txBody>
      </p:sp>
      <p:sp>
        <p:nvSpPr>
          <p:cNvPr id="2" name="">
            <a:extLst xmlns:a="http://schemas.openxmlformats.org/drawingml/2006/main">
              <a:ext uri="{FF2B5EF4-FFF2-40B4-BE49-F238E27FC236}">
                <a16:creationId xmlns:a16="http://schemas.microsoft.com/office/drawing/2014/main" id="{0DF35BC7-5D89-4D63-B208-BF680FF613FB}"/>
              </a:ext>
            </a:extLst>
          </p:cNvPr>
          <p:cNvSpPr>
            <a:spLocks xmlns:a="http://schemas.openxmlformats.org/drawingml/2006/main" noGrp="1"/>
          </p:cNvSpPr>
          <p:nvPr/>
        </p:nvSpPr>
        <p:spPr>
          <a:xfrm xmlns:a="http://schemas.openxmlformats.org/drawingml/2006/main">
            <a:off x="10763250" y="342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579"/>
                </a:solidFill>
                <a:latin typeface="Helvetica Neue"/>
                <a:ea typeface="Helvetica Neue"/>
                <a:cs typeface="Helvetica Neue"/>
              </a:defRPr>
            </a:pPr>
            <a:r>
              <a:rPr sz="1125" b="0">
                <a:solidFill>
                  <a:srgbClr val="666579"/>
                </a:solidFill>
                <a:latin typeface="Helvetica Neue"/>
                <a:ea typeface="Helvetica Neue"/>
                <a:cs typeface="Helvetica Neue"/>
              </a:rPr>
              <a:t>06 / 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a0a93ab141c4ba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7B610F-76CD-45E8-913C-809E94607932}"/>
              </a:ext>
            </a:extLst>
          </p:cNvPr>
          <p:cNvSpPr>
            <a:spLocks xmlns:a="http://schemas.openxmlformats.org/drawingml/2006/main" noGrp="1"/>
          </p:cNvSpPr>
          <p:nvPr/>
        </p:nvSpPr>
        <p:spPr>
          <a:xfrm xmlns:a="http://schemas.openxmlformats.org/drawingml/2006/main">
            <a:off x="619125" y="619125"/>
            <a:ext cx="904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6842D6"/>
                </a:solidFill>
                <a:latin typeface="Helvetica Neue"/>
                <a:ea typeface="Helvetica Neue"/>
                <a:cs typeface="Helvetica Neue"/>
              </a:defRPr>
            </a:pPr>
            <a:r>
              <a:rPr sz="1500" b="1">
                <a:solidFill>
                  <a:srgbClr val="6842D6"/>
                </a:solidFill>
                <a:latin typeface="Helvetica Neue"/>
                <a:ea typeface="Helvetica Neue"/>
                <a:cs typeface="Helvetica Neue"/>
              </a:rPr>
              <a:t>VERIFIED SANDBOX CHECKOUT</a:t>
            </a:r>
          </a:p>
        </p:txBody>
      </p:sp>
      <p:sp>
        <p:nvSpPr>
          <p:cNvPr id="5" name="">
            <a:extLst xmlns:a="http://schemas.openxmlformats.org/drawingml/2006/main">
              <a:ext uri="{FF2B5EF4-FFF2-40B4-BE49-F238E27FC236}">
                <a16:creationId xmlns:a16="http://schemas.microsoft.com/office/drawing/2014/main" id="{F21D1D23-A195-4777-A7F5-F67689555FB6}"/>
              </a:ext>
            </a:extLst>
          </p:cNvPr>
          <p:cNvSpPr>
            <a:spLocks xmlns:a="http://schemas.openxmlformats.org/drawingml/2006/main" noGrp="1"/>
          </p:cNvSpPr>
          <p:nvPr/>
        </p:nvSpPr>
        <p:spPr>
          <a:xfrm xmlns:a="http://schemas.openxmlformats.org/drawingml/2006/main">
            <a:off x="619125" y="1409700"/>
            <a:ext cx="71437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222137"/>
                </a:solidFill>
                <a:latin typeface="Helvetica Neue"/>
                <a:ea typeface="Helvetica Neue"/>
                <a:cs typeface="Helvetica Neue"/>
              </a:defRPr>
            </a:pPr>
            <a:r>
              <a:rPr sz="5025" b="1">
                <a:solidFill>
                  <a:srgbClr val="222137"/>
                </a:solidFill>
                <a:latin typeface="Helvetica Neue"/>
                <a:ea typeface="Helvetica Neue"/>
                <a:cs typeface="Helvetica Neue"/>
              </a:rPr>
              <a:t>The purchase</a:t>
            </a:r>
          </a:p>
          <a:p xmlns:a="http://schemas.openxmlformats.org/drawingml/2006/main">
            <a:pPr>
              <a:defRPr sz="5025" b="1">
                <a:solidFill>
                  <a:srgbClr val="222137"/>
                </a:solidFill>
                <a:latin typeface="Helvetica Neue"/>
                <a:ea typeface="Helvetica Neue"/>
                <a:cs typeface="Helvetica Neue"/>
              </a:defRPr>
            </a:pPr>
            <a:r>
              <a:rPr sz="5025" b="1">
                <a:solidFill>
                  <a:srgbClr val="222137"/>
                </a:solidFill>
                <a:latin typeface="Helvetica Neue"/>
                <a:ea typeface="Helvetica Neue"/>
                <a:cs typeface="Helvetica Neue"/>
              </a:rPr>
              <a:t>has proof.</a:t>
            </a:r>
          </a:p>
        </p:txBody>
      </p:sp>
      <p:sp>
        <p:nvSpPr>
          <p:cNvPr id="6" name="">
            <a:extLst xmlns:a="http://schemas.openxmlformats.org/drawingml/2006/main">
              <a:ext uri="{FF2B5EF4-FFF2-40B4-BE49-F238E27FC236}">
                <a16:creationId xmlns:a16="http://schemas.microsoft.com/office/drawing/2014/main" id="{A4F8C2EE-8FC8-4E97-86C3-9A890957E324}"/>
              </a:ext>
            </a:extLst>
          </p:cNvPr>
          <p:cNvSpPr>
            <a:spLocks xmlns:a="http://schemas.openxmlformats.org/drawingml/2006/main" noGrp="1"/>
          </p:cNvSpPr>
          <p:nvPr/>
        </p:nvSpPr>
        <p:spPr>
          <a:xfrm xmlns:a="http://schemas.openxmlformats.org/drawingml/2006/main">
            <a:off x="619125" y="331470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57E81"/>
                </a:solidFill>
                <a:latin typeface="Helvetica Neue"/>
                <a:ea typeface="Helvetica Neue"/>
                <a:cs typeface="Helvetica Neue"/>
              </a:defRPr>
            </a:pPr>
            <a:r>
              <a:rPr sz="6600" b="1">
                <a:solidFill>
                  <a:srgbClr val="157E81"/>
                </a:solidFill>
                <a:latin typeface="Helvetica Neue"/>
                <a:ea typeface="Helvetica Neue"/>
                <a:cs typeface="Helvetica Neue"/>
              </a:rPr>
              <a:t>C$13.00</a:t>
            </a:r>
          </a:p>
        </p:txBody>
      </p:sp>
      <p:sp>
        <p:nvSpPr>
          <p:cNvPr id="7" name="">
            <a:extLst xmlns:a="http://schemas.openxmlformats.org/drawingml/2006/main">
              <a:ext uri="{FF2B5EF4-FFF2-40B4-BE49-F238E27FC236}">
                <a16:creationId xmlns:a16="http://schemas.microsoft.com/office/drawing/2014/main" id="{F6E23E78-76BB-447B-A11B-B03C4C0E63E2}"/>
              </a:ext>
            </a:extLst>
          </p:cNvPr>
          <p:cNvSpPr>
            <a:spLocks xmlns:a="http://schemas.openxmlformats.org/drawingml/2006/main" noGrp="1"/>
          </p:cNvSpPr>
          <p:nvPr/>
        </p:nvSpPr>
        <p:spPr>
          <a:xfrm xmlns:a="http://schemas.openxmlformats.org/drawingml/2006/main">
            <a:off x="666750" y="4476750"/>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137"/>
                </a:solidFill>
                <a:latin typeface="Helvetica Neue"/>
                <a:ea typeface="Helvetica Neue"/>
                <a:cs typeface="Helvetica Neue"/>
              </a:defRPr>
            </a:pPr>
            <a:r>
              <a:rPr sz="2025" b="0">
                <a:solidFill>
                  <a:srgbClr val="222137"/>
                </a:solidFill>
                <a:latin typeface="Helvetica Neue"/>
                <a:ea typeface="Helvetica Neue"/>
                <a:cs typeface="Helvetica Neue"/>
              </a:rPr>
              <a:t>Actual test charge for Paw Print Charm</a:t>
            </a:r>
          </a:p>
        </p:txBody>
      </p:sp>
      <p:sp>
        <p:nvSpPr>
          <p:cNvPr id="8" name="">
            <a:extLst xmlns:a="http://schemas.openxmlformats.org/drawingml/2006/main">
              <a:ext uri="{FF2B5EF4-FFF2-40B4-BE49-F238E27FC236}">
                <a16:creationId xmlns:a16="http://schemas.microsoft.com/office/drawing/2014/main" id="{A69BBE5C-7323-492A-A85D-DAC348BA2474}"/>
              </a:ext>
            </a:extLst>
          </p:cNvPr>
          <p:cNvSpPr>
            <a:spLocks xmlns:a="http://schemas.openxmlformats.org/drawingml/2006/main" noGrp="1"/>
          </p:cNvSpPr>
          <p:nvPr/>
        </p:nvSpPr>
        <p:spPr>
          <a:xfrm xmlns:a="http://schemas.openxmlformats.org/drawingml/2006/main">
            <a:off x="666750" y="5124450"/>
            <a:ext cx="700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6579"/>
                </a:solidFill>
                <a:latin typeface="Helvetica Neue"/>
                <a:ea typeface="Helvetica Neue"/>
                <a:cs typeface="Helvetica Neue"/>
              </a:defRPr>
            </a:pPr>
            <a:r>
              <a:rPr sz="1875" b="0">
                <a:solidFill>
                  <a:srgbClr val="666579"/>
                </a:solidFill>
                <a:latin typeface="Helvetica Neue"/>
                <a:ea typeface="Helvetica Neue"/>
                <a:cs typeface="Helvetica Neue"/>
              </a:rPr>
              <a:t>Agnic status: succeeded</a:t>
            </a:r>
          </a:p>
          <a:p xmlns:a="http://schemas.openxmlformats.org/drawingml/2006/main">
            <a:pPr>
              <a:defRPr sz="1875" b="0">
                <a:solidFill>
                  <a:srgbClr val="666579"/>
                </a:solidFill>
                <a:latin typeface="Helvetica Neue"/>
                <a:ea typeface="Helvetica Neue"/>
                <a:cs typeface="Helvetica Neue"/>
              </a:defRPr>
            </a:pPr>
            <a:r>
              <a:rPr sz="1875" b="0">
                <a:solidFill>
                  <a:srgbClr val="666579"/>
                </a:solidFill>
                <a:latin typeface="Helvetica Neue"/>
                <a:ea typeface="Helvetica Neue"/>
                <a:cs typeface="Helvetica Neue"/>
              </a:rPr>
              <a:t>Three successful orders in project records</a:t>
            </a:r>
          </a:p>
        </p:txBody>
      </p:sp>
      <p:sp>
        <p:nvSpPr>
          <p:cNvPr id="9" name="">
            <a:extLst xmlns:a="http://schemas.openxmlformats.org/drawingml/2006/main">
              <a:ext uri="{FF2B5EF4-FFF2-40B4-BE49-F238E27FC236}">
                <a16:creationId xmlns:a16="http://schemas.microsoft.com/office/drawing/2014/main" id="{6676C000-8FD4-42D6-AFC9-0FA117BD42A3}"/>
              </a:ext>
            </a:extLst>
          </p:cNvPr>
          <p:cNvSpPr>
            <a:spLocks xmlns:a="http://schemas.openxmlformats.org/drawingml/2006/main" noGrp="1"/>
          </p:cNvSpPr>
          <p:nvPr/>
        </p:nvSpPr>
        <p:spPr>
          <a:xfrm xmlns:a="http://schemas.openxmlformats.org/drawingml/2006/main">
            <a:off x="666750" y="6191250"/>
            <a:ext cx="714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842D6"/>
                </a:solidFill>
                <a:latin typeface="Helvetica Neue"/>
                <a:ea typeface="Helvetica Neue"/>
                <a:cs typeface="Helvetica Neue"/>
              </a:defRPr>
            </a:pPr>
            <a:r>
              <a:rPr sz="1800" b="1">
                <a:solidFill>
                  <a:srgbClr val="6842D6"/>
                </a:solidFill>
                <a:latin typeface="Helvetica Neue"/>
                <a:ea typeface="Helvetica Neue"/>
                <a:cs typeface="Helvetica Neue"/>
              </a:rPr>
              <a:t>sentinel-taupe-two.vercel.app</a:t>
            </a:r>
          </a:p>
        </p:txBody>
      </p:sp>
    </p:spTree>
    <p:extLst>
      <p:ext uri="{BB962C8B-B14F-4D97-AF65-F5344CB8AC3E}">
        <p14:creationId xmlns:p14="http://schemas.microsoft.com/office/powerpoint/2010/main" val="1579520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2026-09-20T16:58:03.7630000Z</dcterms:created>
  <dcterms:modified xsi:type="dcterms:W3CDTF">2026-09-20T16:58:03.7630000Z</dcterms:modified>
</coreProperties>
</file>